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1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pic>
        <p:nvPicPr>
          <p:cNvPr id="4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3340100"/>
            <a:ext cx="6079232" cy="769541"/>
          </a:xfrm>
          <a:prstGeom prst="rect">
            <a:avLst/>
          </a:prstGeom>
        </p:spPr>
      </p:pic>
      <p:pic>
        <p:nvPicPr>
          <p:cNvPr id="6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" y="4089400"/>
            <a:ext cx="1485900" cy="196850"/>
          </a:xfrm>
          <a:prstGeom prst="rect">
            <a:avLst/>
          </a:prstGeom>
        </p:spPr>
      </p:pic>
      <p:pic>
        <p:nvPicPr>
          <p:cNvPr id="7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" y="4406900"/>
            <a:ext cx="4685308" cy="406400"/>
          </a:xfrm>
          <a:prstGeom prst="rect">
            <a:avLst/>
          </a:prstGeom>
        </p:spPr>
      </p:pic>
      <p:pic>
        <p:nvPicPr>
          <p:cNvPr id="8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50" y="4737100"/>
            <a:ext cx="3083520" cy="406400"/>
          </a:xfrm>
          <a:prstGeom prst="rect">
            <a:avLst/>
          </a:prstGeom>
        </p:spPr>
      </p:pic>
      <p:sp>
        <p:nvSpPr>
          <p:cNvPr id="9" name="形状 9"/>
          <p:cNvSpPr/>
          <p:nvPr/>
        </p:nvSpPr>
        <p:spPr>
          <a:xfrm>
            <a:off x="0" y="5664200"/>
            <a:ext cx="12192000" cy="1193800"/>
          </a:xfrm>
          <a:prstGeom prst="rect">
            <a:avLst/>
          </a:prstGeom>
          <a:solidFill>
            <a:srgbClr val="E9EDF3">
              <a:alpha val="100000"/>
            </a:srgbClr>
          </a:solidFill>
          <a:ln>
            <a:noFill/>
          </a:ln>
        </p:spPr>
      </p:sp>
      <p:pic>
        <p:nvPicPr>
          <p:cNvPr id="10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378" y="6143625"/>
            <a:ext cx="834033" cy="234950"/>
          </a:xfrm>
          <a:prstGeom prst="rect">
            <a:avLst/>
          </a:prstGeom>
        </p:spPr>
      </p:pic>
      <p:sp>
        <p:nvSpPr>
          <p:cNvPr id="11" name="形状 11"/>
          <p:cNvSpPr/>
          <p:nvPr/>
        </p:nvSpPr>
        <p:spPr>
          <a:xfrm>
            <a:off x="11174611" y="6172200"/>
            <a:ext cx="6350" cy="177800"/>
          </a:xfrm>
          <a:prstGeom prst="rect">
            <a:avLst/>
          </a:prstGeom>
          <a:solidFill>
            <a:srgbClr val="C3CDD9">
              <a:alpha val="100000"/>
            </a:srgbClr>
          </a:solidFill>
          <a:ln>
            <a:noFill/>
          </a:ln>
        </p:spPr>
      </p:sp>
      <p:pic>
        <p:nvPicPr>
          <p:cNvPr id="12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7161" y="6159500"/>
            <a:ext cx="249039" cy="203200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11582400" y="6169025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100">
                <a:solidFill>
                  <a:srgbClr val="141C2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2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82559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 / 总纲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22352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三层质量防线：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2794000" y="508000"/>
            <a:ext cx="6236395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能算的脚本算，能修的 AI 修，该裁的让人裁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68707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三道防线递进：受理范围与能力越来越大，代价也越来越高——能拦在便宜的层，就不上推到贵的层。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2020"/>
            <a:ext cx="11049000" cy="53111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3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128279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 / 流程与产物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28702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我们的流程与产物：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3429000" y="508000"/>
            <a:ext cx="35052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八道工序，一次齐套交付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90805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主链全自动流转；三道防线按工序落位（下方覆盖泳道，与主链上下对齐）；生产者与质检者分岗制衡——防线不是概念，是流程本身。</a:t>
            </a:r>
            <a:endParaRPr/>
          </a:p>
        </p:txBody>
      </p:sp>
      <p:pic>
        <p:nvPicPr>
          <p:cNvPr id="8" name="slide-00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2020"/>
            <a:ext cx="11049000" cy="5311180"/>
          </a:xfrm>
          <a:prstGeom prst="rect">
            <a:avLst/>
          </a:prstGeom>
        </p:spPr>
      </p:pic>
      <p:pic>
        <p:nvPicPr>
          <p:cNvPr id="9" name="slide-003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406400"/>
            <a:ext cx="609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4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1892498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 / 环节① · TS 设计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253117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环节① TS 设计：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3089970" y="508000"/>
            <a:ext cx="60452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从需求到技术方案，产出的每行都先过机器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10974388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输入是需求说明书＋字段映射表，产出是 TS 设计文档（表结构 · 加工规则 · 数据流 · 增量设计）；评估取证先行、装配校验拦截，闸口①人审后冻结为编码唯一依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571500" y="1159470"/>
            <a:ext cx="3175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据。</a:t>
            </a:r>
            <a:endParaRPr/>
          </a:p>
        </p:txBody>
      </p:sp>
      <p:pic>
        <p:nvPicPr>
          <p:cNvPr id="9" name="slide-00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5341"/>
            <a:ext cx="11049000" cy="5097859"/>
          </a:xfrm>
          <a:prstGeom prst="rect">
            <a:avLst/>
          </a:prstGeom>
        </p:spPr>
      </p:pic>
      <p:pic>
        <p:nvPicPr>
          <p:cNvPr id="10" name="slide-004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406400"/>
            <a:ext cx="609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5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189239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 / 环节② · 制品开发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2658467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环节② 制品开发：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3217267" y="508000"/>
            <a:ext cx="475367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 TS 到四件套，失败按根因分流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10983615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TS 切片给编码岗逐规则写加工 SQL，DDL、调度随之生成，质检岗并行出质检 SQL；口径对账、执行预检、UT 实测层层过——失败不裸报也不空转，按根因分流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571500" y="1159470"/>
            <a:ext cx="469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修复。</a:t>
            </a:r>
            <a:endParaRPr/>
          </a:p>
        </p:txBody>
      </p:sp>
      <p:pic>
        <p:nvPicPr>
          <p:cNvPr id="9" name="slide-005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5341"/>
            <a:ext cx="11049000" cy="5097859"/>
          </a:xfrm>
          <a:prstGeom prst="rect">
            <a:avLst/>
          </a:prstGeom>
        </p:spPr>
      </p:pic>
      <p:pic>
        <p:nvPicPr>
          <p:cNvPr id="10" name="slide-005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406400"/>
            <a:ext cx="609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6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2044898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05 / 环节③ · UT 与 DQ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2820392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环节③ UT 与 DQ：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3379192" y="508000"/>
            <a:ext cx="57277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用数据说话——通过才算数，告警人裁决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90043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真实装载后主键、空值、行数实测；质检岗独立重算、双模式出报告；告警三选一由人裁决——定边界＝三条红线，守终裁＝闸口②。</a:t>
            </a:r>
            <a:endParaRPr/>
          </a:p>
        </p:txBody>
      </p:sp>
      <p:pic>
        <p:nvPicPr>
          <p:cNvPr id="8" name="slide-006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2020"/>
            <a:ext cx="11049000" cy="5311180"/>
          </a:xfrm>
          <a:prstGeom prst="rect">
            <a:avLst/>
          </a:prstGeom>
        </p:spPr>
      </p:pic>
      <p:pic>
        <p:nvPicPr>
          <p:cNvPr id="9" name="slide-006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406400"/>
            <a:ext cx="609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7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文字 4"/>
          <p:cNvSpPr txBox="1"/>
          <p:nvPr/>
        </p:nvSpPr>
        <p:spPr>
          <a:xfrm>
            <a:off x="571500" y="311150"/>
            <a:ext cx="128279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20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06 / 实效与边界</a:t>
            </a:r>
            <a:endParaRPr/>
          </a:p>
        </p:txBody>
      </p:sp>
      <p:sp>
        <p:nvSpPr>
          <p:cNvPr id="5" name="文字 5"/>
          <p:cNvSpPr txBox="1"/>
          <p:nvPr/>
        </p:nvSpPr>
        <p:spPr>
          <a:xfrm>
            <a:off x="571500" y="508000"/>
            <a:ext cx="4090392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1E29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一周多的活，1~2 天交付——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649192" y="508000"/>
            <a:ext cx="2870200" cy="444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pc="0">
                <a:solidFill>
                  <a:srgbClr val="2563E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且清楚哪些还是人的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71500" y="946150"/>
            <a:ext cx="5041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64748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提效的来源、防线自己的质量底座、还没验证的部分——这一页一并交代。</a:t>
            </a:r>
            <a:endParaRPr/>
          </a:p>
        </p:txBody>
      </p:sp>
      <p:pic>
        <p:nvPicPr>
          <p:cNvPr id="8" name="slide-007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2020"/>
            <a:ext cx="11049000" cy="5311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第 8 页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pic>
        <p:nvPicPr>
          <p:cNvPr id="4" name="slide-008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5" name="slide-008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  <p:sp>
        <p:nvSpPr>
          <p:cNvPr id="6" name="文字 6"/>
          <p:cNvSpPr txBox="1"/>
          <p:nvPr/>
        </p:nvSpPr>
        <p:spPr>
          <a:xfrm>
            <a:off x="5937250" y="3213100"/>
            <a:ext cx="3178969" cy="857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pc="48">
                <a:solidFill>
                  <a:srgbClr val="162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Thank You</a:t>
            </a:r>
            <a:endParaRPr/>
          </a:p>
        </p:txBody>
      </p:sp>
      <p:pic>
        <p:nvPicPr>
          <p:cNvPr id="7" name="slide-008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4089400"/>
            <a:ext cx="1422400" cy="196850"/>
          </a:xfrm>
          <a:prstGeom prst="rect">
            <a:avLst/>
          </a:prstGeom>
        </p:spPr>
      </p:pic>
      <p:sp>
        <p:nvSpPr>
          <p:cNvPr id="8" name="文字 8"/>
          <p:cNvSpPr txBox="1"/>
          <p:nvPr/>
        </p:nvSpPr>
        <p:spPr>
          <a:xfrm>
            <a:off x="5969000" y="4489450"/>
            <a:ext cx="10795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3A8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能算的让脚本算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7035800" y="4489450"/>
            <a:ext cx="2942927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33415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——AI 生成、确定性脚本把关，不过不放行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5969000" y="4778970"/>
            <a:ext cx="1018877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3A8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能修的让 AI 修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6975177" y="4778970"/>
            <a:ext cx="2451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33415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——自治有边界，防过度靠结构限位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5969000" y="5068491"/>
            <a:ext cx="927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E3A8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该裁的让人裁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6883400" y="5068491"/>
            <a:ext cx="2755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33415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——人守两个闸口，拿到的永远是选择题</a:t>
            </a:r>
            <a:endParaRPr/>
          </a:p>
        </p:txBody>
      </p:sp>
      <p:pic>
        <p:nvPicPr>
          <p:cNvPr id="14" name="slide-008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478" y="6457950"/>
            <a:ext cx="834033" cy="234950"/>
          </a:xfrm>
          <a:prstGeom prst="rect">
            <a:avLst/>
          </a:prstGeom>
        </p:spPr>
      </p:pic>
      <p:sp>
        <p:nvSpPr>
          <p:cNvPr id="15" name="形状 15"/>
          <p:cNvSpPr/>
          <p:nvPr/>
        </p:nvSpPr>
        <p:spPr>
          <a:xfrm>
            <a:off x="11200011" y="6486525"/>
            <a:ext cx="6350" cy="177800"/>
          </a:xfrm>
          <a:prstGeom prst="rect">
            <a:avLst/>
          </a:prstGeom>
          <a:solidFill>
            <a:srgbClr val="B9C4D4">
              <a:alpha val="100000"/>
            </a:srgbClr>
          </a:solidFill>
          <a:ln>
            <a:noFill/>
          </a:ln>
        </p:spPr>
      </p:sp>
      <p:pic>
        <p:nvPicPr>
          <p:cNvPr id="16" name="slide-008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9861" y="6473825"/>
            <a:ext cx="249039" cy="203200"/>
          </a:xfrm>
          <a:prstGeom prst="rect">
            <a:avLst/>
          </a:prstGeom>
        </p:spPr>
      </p:pic>
      <p:sp>
        <p:nvSpPr>
          <p:cNvPr id="17" name="文字 17"/>
          <p:cNvSpPr txBox="1"/>
          <p:nvPr/>
        </p:nvSpPr>
        <p:spPr>
          <a:xfrm>
            <a:off x="11582400" y="6477000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100">
                <a:solidFill>
                  <a:srgbClr val="162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