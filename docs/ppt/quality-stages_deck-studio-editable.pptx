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!-- 空白母版、版式与主题取自 python-pptx 1.0.2 的默认有效文稿；母版只保留空白版式。 --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!-- 空白母版、版式与主题取自 python-pptx 1.0.2 的默认有效文稿；母版只保留空白版式。 --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第 1 页"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pic>
        <p:nvPicPr>
          <p:cNvPr id="4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文字 5"/>
          <p:cNvSpPr txBox="1"/>
          <p:nvPr/>
        </p:nvSpPr>
        <p:spPr>
          <a:xfrm>
            <a:off x="825500" y="3441700"/>
            <a:ext cx="5825232" cy="584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3300" b="1" i="0" u="none" spc="132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AI 进开发环节，质量怎么守？</a:t>
            </a:r>
            <a:endParaRPr/>
          </a:p>
        </p:txBody>
      </p:sp>
      <p:pic>
        <p:nvPicPr>
          <p:cNvPr id="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50" y="4089400"/>
            <a:ext cx="1485900" cy="196850"/>
          </a:xfrm>
          <a:prstGeom prst="rect">
            <a:avLst/>
          </a:prstGeom>
        </p:spPr>
      </p:pic>
      <p:sp>
        <p:nvSpPr>
          <p:cNvPr id="7" name="文字 7"/>
          <p:cNvSpPr txBox="1"/>
          <p:nvPr/>
        </p:nvSpPr>
        <p:spPr>
          <a:xfrm>
            <a:off x="844550" y="4489450"/>
            <a:ext cx="4545608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pc="70">
                <a:solidFill>
                  <a:srgbClr val="EAF1F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数据交付 Agent 的三层质量防线 · AI for IT 实践分享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844550" y="4819650"/>
            <a:ext cx="294382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pc="70">
                <a:solidFill>
                  <a:srgbClr val="EAF1F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2026.10 · 数据交付 Agent 项目组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0" y="5664200"/>
            <a:ext cx="12192000" cy="1193800"/>
          </a:xfrm>
          <a:prstGeom prst="rect">
            <a:avLst/>
          </a:prstGeom>
          <a:solidFill>
            <a:srgbClr val="E9EDF3">
              <a:alpha val="100000"/>
            </a:srgbClr>
          </a:solidFill>
          <a:ln>
            <a:noFill/>
          </a:ln>
        </p:spPr>
      </p:sp>
      <p:pic>
        <p:nvPicPr>
          <p:cNvPr id="10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4378" y="6143625"/>
            <a:ext cx="834033" cy="234950"/>
          </a:xfrm>
          <a:prstGeom prst="rect">
            <a:avLst/>
          </a:prstGeom>
        </p:spPr>
      </p:pic>
      <p:sp>
        <p:nvSpPr>
          <p:cNvPr id="11" name="形状 11"/>
          <p:cNvSpPr/>
          <p:nvPr/>
        </p:nvSpPr>
        <p:spPr>
          <a:xfrm>
            <a:off x="11174611" y="6172200"/>
            <a:ext cx="6350" cy="177800"/>
          </a:xfrm>
          <a:prstGeom prst="rect">
            <a:avLst/>
          </a:prstGeom>
          <a:solidFill>
            <a:srgbClr val="C3CDD9">
              <a:alpha val="100000"/>
            </a:srgbClr>
          </a:solidFill>
          <a:ln>
            <a:noFill/>
          </a:ln>
        </p:spPr>
      </p:sp>
      <p:pic>
        <p:nvPicPr>
          <p:cNvPr id="1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7161" y="6159500"/>
            <a:ext cx="249039" cy="20320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11582400" y="6169025"/>
            <a:ext cx="3429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100">
                <a:solidFill>
                  <a:srgbClr val="141C2C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云山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第 2 页"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文字 4"/>
          <p:cNvSpPr txBox="1"/>
          <p:nvPr/>
        </p:nvSpPr>
        <p:spPr>
          <a:xfrm>
            <a:off x="571500" y="311150"/>
            <a:ext cx="82559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200">
                <a:solidFill>
                  <a:srgbClr val="2563EB">
                    <a:alpha val="100000"/>
                  </a:srgbClr>
                </a:solidFill>
                <a:latin typeface="Courier New"/>
                <a:ea typeface="Courier New"/>
                <a:cs typeface="Courier New"/>
              </a:rPr>
              <a:t xml:space="preserve">01 / 总纲</a:t>
            </a:r>
            <a:endParaRPr/>
          </a:p>
        </p:txBody>
      </p:sp>
      <p:sp>
        <p:nvSpPr>
          <p:cNvPr id="5" name="文字 5"/>
          <p:cNvSpPr txBox="1"/>
          <p:nvPr/>
        </p:nvSpPr>
        <p:spPr>
          <a:xfrm>
            <a:off x="571500" y="508000"/>
            <a:ext cx="2235200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三层质量防线：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2794000" y="508000"/>
            <a:ext cx="6236395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能算的脚本算，能修的 AI 修，该裁的让人裁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71500" y="946150"/>
            <a:ext cx="68707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三道防线递进：受理范围与能力越来越大，代价也越来越高——能拦在便宜的层，就不上推到贵的层。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890221" y="1325007"/>
            <a:ext cx="3391887" cy="149377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71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标的物：数据开发段（含 IT 设计）——AI 端到端交付可测试的数据资产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890221" y="1529709"/>
            <a:ext cx="1912327" cy="442598"/>
          </a:xfrm>
          <a:prstGeom prst="roundRect">
            <a:avLst>
              <a:gd name="adj" fmla="val 19203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10" name="文字 10"/>
          <p:cNvSpPr txBox="1"/>
          <p:nvPr/>
        </p:nvSpPr>
        <p:spPr>
          <a:xfrm>
            <a:off x="1646865" y="1629404"/>
            <a:ext cx="411739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输入材料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1350625" y="1808546"/>
            <a:ext cx="1004220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需求说明书 ＋ 字段映射表</a:t>
            </a:r>
            <a:endParaRPr/>
          </a:p>
        </p:txBody>
      </p:sp>
      <p:cxnSp>
        <p:nvCxnSpPr>
          <p:cNvPr id="12" name="直线 12"/>
          <p:cNvCxnSpPr/>
          <p:nvPr/>
        </p:nvCxnSpPr>
        <p:spPr>
          <a:xfrm>
            <a:off x="2823796" y="1751008"/>
            <a:ext cx="233729" cy="0"/>
          </a:xfrm>
          <a:prstGeom prst="line">
            <a:avLst/>
          </a:prstGeom>
          <a:ln w="16998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13" name="形状 13"/>
          <p:cNvSpPr/>
          <p:nvPr/>
        </p:nvSpPr>
        <p:spPr>
          <a:xfrm>
            <a:off x="3100021" y="1485449"/>
            <a:ext cx="5949462" cy="531118"/>
          </a:xfrm>
          <a:prstGeom prst="roundRect">
            <a:avLst>
              <a:gd name="adj" fmla="val 20003"/>
            </a:avLst>
          </a:prstGeom>
          <a:gradFill>
            <a:gsLst>
              <a:gs pos="0">
                <a:srgbClr val="2563EB"/>
              </a:gs>
              <a:gs pos="100000">
                <a:srgbClr val="1E3A8A"/>
              </a:gs>
            </a:gsLst>
            <a:lin ang="5400000" scaled="1"/>
          </a:gradFill>
          <a:ln w="16998">
            <a:solidFill>
              <a:srgbClr val="1E3A8A">
                <a:alpha val="100000"/>
              </a:srgbClr>
            </a:solidFill>
            <a:prstDash val="solid"/>
          </a:ln>
        </p:spPr>
      </p:sp>
      <p:sp>
        <p:nvSpPr>
          <p:cNvPr id="14" name="文字 14"/>
          <p:cNvSpPr txBox="1"/>
          <p:nvPr/>
        </p:nvSpPr>
        <p:spPr>
          <a:xfrm>
            <a:off x="4626237" y="1601410"/>
            <a:ext cx="2909729" cy="1673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76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数据开发段：粗设计 → 细设计 → 编码 → 自测（UT）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4772798" y="1830676"/>
            <a:ext cx="2616607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BFDBF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产出：设计文档 · 建表 DDL · 加工 SQL · 调度配置 · 质量检查 SQL</a:t>
            </a:r>
            <a:endParaRPr/>
          </a:p>
        </p:txBody>
      </p:sp>
      <p:cxnSp>
        <p:nvCxnSpPr>
          <p:cNvPr id="16" name="直线 16"/>
          <p:cNvCxnSpPr/>
          <p:nvPr/>
        </p:nvCxnSpPr>
        <p:spPr>
          <a:xfrm>
            <a:off x="9070731" y="1751008"/>
            <a:ext cx="233729" cy="0"/>
          </a:xfrm>
          <a:prstGeom prst="line">
            <a:avLst/>
          </a:prstGeom>
          <a:ln w="16998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17" name="形状 17"/>
          <p:cNvSpPr/>
          <p:nvPr/>
        </p:nvSpPr>
        <p:spPr>
          <a:xfrm>
            <a:off x="9346956" y="1529709"/>
            <a:ext cx="1954823" cy="442598"/>
          </a:xfrm>
          <a:prstGeom prst="roundRect">
            <a:avLst>
              <a:gd name="adj" fmla="val 19203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18" name="文字 18"/>
          <p:cNvSpPr txBox="1"/>
          <p:nvPr/>
        </p:nvSpPr>
        <p:spPr>
          <a:xfrm>
            <a:off x="10224608" y="1629404"/>
            <a:ext cx="212219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交付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686925" y="1808546"/>
            <a:ext cx="1287585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可测试的数据资产（附自测报告）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890221" y="2143593"/>
            <a:ext cx="2900448" cy="1673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76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AI 干开发活的四类典型翻车——都真实踩过，逐类设防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890221" y="2337451"/>
            <a:ext cx="169985" cy="177039"/>
          </a:xfrm>
          <a:prstGeom prst="ellipse">
            <a:avLst/>
          </a:prstGeom>
          <a:solidFill>
            <a:srgbClr val="EF4444">
              <a:alpha val="100000"/>
            </a:srgbClr>
          </a:solidFill>
          <a:ln>
            <a:noFill/>
          </a:ln>
        </p:spPr>
      </p:sp>
      <p:sp>
        <p:nvSpPr>
          <p:cNvPr id="22" name="文字 22"/>
          <p:cNvSpPr txBox="1"/>
          <p:nvPr/>
        </p:nvSpPr>
        <p:spPr>
          <a:xfrm>
            <a:off x="954763" y="2370757"/>
            <a:ext cx="53601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1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1123950" y="2304367"/>
            <a:ext cx="411739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幻觉引用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123950" y="2461379"/>
            <a:ext cx="947615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引用了不存在的字段、表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1123950" y="2603010"/>
            <a:ext cx="743683" cy="154909"/>
          </a:xfrm>
          <a:prstGeom prst="roundRect">
            <a:avLst>
              <a:gd name="adj" fmla="val 27433"/>
            </a:avLst>
          </a:prstGeom>
          <a:solidFill>
            <a:srgbClr val="FEE2E2">
              <a:alpha val="100000"/>
            </a:srgbClr>
          </a:solidFill>
          <a:ln w="8499">
            <a:solidFill>
              <a:srgbClr val="FECACA">
                <a:alpha val="100000"/>
              </a:srgbClr>
            </a:solidFill>
            <a:prstDash val="solid"/>
          </a:ln>
        </p:spPr>
      </p:sp>
      <p:sp>
        <p:nvSpPr>
          <p:cNvPr id="26" name="文字 26"/>
          <p:cNvSpPr txBox="1"/>
          <p:nvPr/>
        </p:nvSpPr>
        <p:spPr>
          <a:xfrm>
            <a:off x="1318561" y="2641240"/>
            <a:ext cx="367161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防线① 拦</a:t>
            </a:r>
            <a:endParaRPr/>
          </a:p>
        </p:txBody>
      </p:sp>
      <p:sp>
        <p:nvSpPr>
          <p:cNvPr id="27" name="形状 27"/>
          <p:cNvSpPr/>
          <p:nvPr/>
        </p:nvSpPr>
        <p:spPr>
          <a:xfrm>
            <a:off x="3546231" y="2337451"/>
            <a:ext cx="169985" cy="177039"/>
          </a:xfrm>
          <a:prstGeom prst="ellipse">
            <a:avLst/>
          </a:prstGeom>
          <a:solidFill>
            <a:srgbClr val="EF4444">
              <a:alpha val="100000"/>
            </a:srgbClr>
          </a:solidFill>
          <a:ln>
            <a:noFill/>
          </a:ln>
        </p:spPr>
      </p:sp>
      <p:sp>
        <p:nvSpPr>
          <p:cNvPr id="28" name="文字 28"/>
          <p:cNvSpPr txBox="1"/>
          <p:nvPr/>
        </p:nvSpPr>
        <p:spPr>
          <a:xfrm>
            <a:off x="3601295" y="2370757"/>
            <a:ext cx="72556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2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3779960" y="2304367"/>
            <a:ext cx="411739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口径漂移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3779960" y="2461379"/>
            <a:ext cx="1967523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人话转述走样、语义反转（实测：删除标记被译反）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3779960" y="2603010"/>
            <a:ext cx="743683" cy="154909"/>
          </a:xfrm>
          <a:prstGeom prst="roundRect">
            <a:avLst>
              <a:gd name="adj" fmla="val 27433"/>
            </a:avLst>
          </a:prstGeom>
          <a:solidFill>
            <a:srgbClr val="FEE2E2">
              <a:alpha val="100000"/>
            </a:srgbClr>
          </a:solidFill>
          <a:ln w="8499">
            <a:solidFill>
              <a:srgbClr val="FECACA">
                <a:alpha val="100000"/>
              </a:srgbClr>
            </a:solidFill>
            <a:prstDash val="solid"/>
          </a:ln>
        </p:spPr>
      </p:sp>
      <p:sp>
        <p:nvSpPr>
          <p:cNvPr id="32" name="文字 32"/>
          <p:cNvSpPr txBox="1"/>
          <p:nvPr/>
        </p:nvSpPr>
        <p:spPr>
          <a:xfrm>
            <a:off x="3974570" y="2641240"/>
            <a:ext cx="367161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防线① 拦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6202240" y="2337451"/>
            <a:ext cx="169985" cy="177039"/>
          </a:xfrm>
          <a:prstGeom prst="ellipse">
            <a:avLst/>
          </a:prstGeom>
          <a:solidFill>
            <a:srgbClr val="EF4444">
              <a:alpha val="100000"/>
            </a:srgbClr>
          </a:solidFill>
          <a:ln>
            <a:noFill/>
          </a:ln>
        </p:spPr>
      </p:sp>
      <p:sp>
        <p:nvSpPr>
          <p:cNvPr id="34" name="文字 34"/>
          <p:cNvSpPr txBox="1"/>
          <p:nvPr/>
        </p:nvSpPr>
        <p:spPr>
          <a:xfrm>
            <a:off x="6257305" y="2370757"/>
            <a:ext cx="72556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3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6435969" y="2304367"/>
            <a:ext cx="411739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静默错位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6435969" y="2461379"/>
            <a:ext cx="1218400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按位置对齐的 INSERT 列序乱序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6435969" y="2603010"/>
            <a:ext cx="743683" cy="154909"/>
          </a:xfrm>
          <a:prstGeom prst="roundRect">
            <a:avLst>
              <a:gd name="adj" fmla="val 27433"/>
            </a:avLst>
          </a:prstGeom>
          <a:solidFill>
            <a:srgbClr val="FEE2E2">
              <a:alpha val="100000"/>
            </a:srgbClr>
          </a:solidFill>
          <a:ln w="8499">
            <a:solidFill>
              <a:srgbClr val="FECACA">
                <a:alpha val="100000"/>
              </a:srgbClr>
            </a:solidFill>
            <a:prstDash val="solid"/>
          </a:ln>
        </p:spPr>
      </p:sp>
      <p:sp>
        <p:nvSpPr>
          <p:cNvPr id="38" name="文字 38"/>
          <p:cNvSpPr txBox="1"/>
          <p:nvPr/>
        </p:nvSpPr>
        <p:spPr>
          <a:xfrm>
            <a:off x="6630580" y="2641240"/>
            <a:ext cx="367161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防线① 拦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8858250" y="2337451"/>
            <a:ext cx="169985" cy="177039"/>
          </a:xfrm>
          <a:prstGeom prst="ellipse">
            <a:avLst/>
          </a:prstGeom>
          <a:solidFill>
            <a:srgbClr val="EF4444">
              <a:alpha val="100000"/>
            </a:srgbClr>
          </a:solidFill>
          <a:ln>
            <a:noFill/>
          </a:ln>
        </p:spPr>
      </p:sp>
      <p:sp>
        <p:nvSpPr>
          <p:cNvPr id="40" name="文字 40"/>
          <p:cNvSpPr txBox="1"/>
          <p:nvPr/>
        </p:nvSpPr>
        <p:spPr>
          <a:xfrm>
            <a:off x="8913314" y="2370757"/>
            <a:ext cx="72556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4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9091979" y="2304367"/>
            <a:ext cx="411739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掩盖根因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9091979" y="2461379"/>
            <a:ext cx="1457569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用去重技巧「消掉」报错、反而丢数据</a:t>
            </a:r>
            <a:endParaRPr/>
          </a:p>
        </p:txBody>
      </p:sp>
      <p:sp>
        <p:nvSpPr>
          <p:cNvPr id="43" name="形状 43"/>
          <p:cNvSpPr/>
          <p:nvPr/>
        </p:nvSpPr>
        <p:spPr>
          <a:xfrm>
            <a:off x="9091979" y="2603010"/>
            <a:ext cx="1593606" cy="154909"/>
          </a:xfrm>
          <a:prstGeom prst="roundRect">
            <a:avLst>
              <a:gd name="adj" fmla="val 27433"/>
            </a:avLst>
          </a:prstGeom>
          <a:solidFill>
            <a:srgbClr val="FEF3C7">
              <a:alpha val="100000"/>
            </a:srgbClr>
          </a:solidFill>
          <a:ln w="8499">
            <a:solidFill>
              <a:srgbClr val="FDE68A">
                <a:alpha val="100000"/>
              </a:srgbClr>
            </a:solidFill>
            <a:prstDash val="solid"/>
          </a:ln>
        </p:spPr>
      </p:sp>
      <p:sp>
        <p:nvSpPr>
          <p:cNvPr id="44" name="文字 44"/>
          <p:cNvSpPr txBox="1"/>
          <p:nvPr/>
        </p:nvSpPr>
        <p:spPr>
          <a:xfrm>
            <a:off x="9384372" y="2641240"/>
            <a:ext cx="1021520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防线② 定位 ＋ 防线③ 裁决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890221" y="2890090"/>
            <a:ext cx="1026674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← 越左：越便宜 · 越确定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0199625" y="2845831"/>
            <a:ext cx="1114854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越右：能管的越多 · 越贵 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6098357" y="3183422"/>
            <a:ext cx="857909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决策类 / 语义类 · 直达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890221" y="4395533"/>
            <a:ext cx="4568337" cy="1604419"/>
          </a:xfrm>
          <a:prstGeom prst="roundRect">
            <a:avLst>
              <a:gd name="adj" fmla="val 6622"/>
            </a:avLst>
          </a:prstGeom>
          <a:solidFill>
            <a:srgbClr val="DBEAFE">
              <a:alpha val="100000"/>
            </a:srgbClr>
          </a:solidFill>
          <a:ln w="19123">
            <a:solidFill>
              <a:srgbClr val="2563EB">
                <a:alpha val="100000"/>
              </a:srgbClr>
            </a:solidFill>
            <a:prstDash val="solid"/>
          </a:ln>
        </p:spPr>
      </p:sp>
      <p:sp>
        <p:nvSpPr>
          <p:cNvPr id="49" name="形状 49"/>
          <p:cNvSpPr/>
          <p:nvPr/>
        </p:nvSpPr>
        <p:spPr>
          <a:xfrm>
            <a:off x="890221" y="4395533"/>
            <a:ext cx="4568337" cy="265559"/>
          </a:xfrm>
          <a:prstGeom prst="roundRect">
            <a:avLst>
              <a:gd name="adj" fmla="val 40006"/>
            </a:avLst>
          </a:prstGeom>
          <a:solidFill>
            <a:srgbClr val="2563EB">
              <a:alpha val="100000"/>
            </a:srgbClr>
          </a:solidFill>
          <a:ln>
            <a:noFill/>
          </a:ln>
        </p:spPr>
      </p:sp>
      <p:sp>
        <p:nvSpPr>
          <p:cNvPr id="50" name="形状 50"/>
          <p:cNvSpPr/>
          <p:nvPr/>
        </p:nvSpPr>
        <p:spPr>
          <a:xfrm>
            <a:off x="890221" y="4528313"/>
            <a:ext cx="4568337" cy="132779"/>
          </a:xfrm>
          <a:prstGeom prst="rect">
            <a:avLst/>
          </a:prstGeom>
          <a:solidFill>
            <a:srgbClr val="2563EB">
              <a:alpha val="100000"/>
            </a:srgbClr>
          </a:solidFill>
          <a:ln>
            <a:noFill/>
          </a:ln>
        </p:spPr>
      </p:sp>
      <p:sp>
        <p:nvSpPr>
          <p:cNvPr id="51" name="文字 51"/>
          <p:cNvSpPr txBox="1"/>
          <p:nvPr/>
        </p:nvSpPr>
        <p:spPr>
          <a:xfrm>
            <a:off x="2404893" y="4472877"/>
            <a:ext cx="1551692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防线① 确定性脚本 ——「拦」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996462" y="4737938"/>
            <a:ext cx="2804811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受理：只判「可结构化的对不对」——引用 · 类型 · 列序 · 结构 · 口径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996462" y="4937108"/>
            <a:ext cx="2663196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独立：生成者＝LLM，把关者＝脚本；同一脚本跑两遍结果必然相同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996462" y="5136277"/>
            <a:ext cx="2414353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代价：秒级 · 零成本 · 100% 可复现——拦截的问题占比最大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996462" y="5335446"/>
            <a:ext cx="2129005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限位：规则固定无裁量；检出即分诊——不过闸不放行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996462" y="5573453"/>
            <a:ext cx="224859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四类翻车的前三类死在这里：幻觉引用 / 口径漂移 / 静默错位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5777279" y="3842285"/>
            <a:ext cx="3505933" cy="2157667"/>
          </a:xfrm>
          <a:prstGeom prst="roundRect">
            <a:avLst>
              <a:gd name="adj" fmla="val 4924"/>
            </a:avLst>
          </a:prstGeom>
          <a:solidFill>
            <a:srgbClr val="EFF6FF">
              <a:alpha val="100000"/>
            </a:srgbClr>
          </a:solidFill>
          <a:ln w="19123">
            <a:solidFill>
              <a:srgbClr val="2563EB">
                <a:alpha val="100000"/>
              </a:srgbClr>
            </a:solidFill>
            <a:prstDash val="solid"/>
          </a:ln>
        </p:spPr>
      </p:sp>
      <p:sp>
        <p:nvSpPr>
          <p:cNvPr id="58" name="形状 58"/>
          <p:cNvSpPr/>
          <p:nvPr/>
        </p:nvSpPr>
        <p:spPr>
          <a:xfrm>
            <a:off x="5777279" y="3842285"/>
            <a:ext cx="3505933" cy="265559"/>
          </a:xfrm>
          <a:prstGeom prst="roundRect">
            <a:avLst>
              <a:gd name="adj" fmla="val 40006"/>
            </a:avLst>
          </a:prstGeom>
          <a:solidFill>
            <a:srgbClr val="1D4ED8">
              <a:alpha val="100000"/>
            </a:srgbClr>
          </a:solidFill>
          <a:ln>
            <a:noFill/>
          </a:ln>
        </p:spPr>
      </p:sp>
      <p:sp>
        <p:nvSpPr>
          <p:cNvPr id="59" name="形状 59"/>
          <p:cNvSpPr/>
          <p:nvPr/>
        </p:nvSpPr>
        <p:spPr>
          <a:xfrm>
            <a:off x="5777279" y="3975065"/>
            <a:ext cx="3505933" cy="132779"/>
          </a:xfrm>
          <a:prstGeom prst="rect">
            <a:avLst/>
          </a:prstGeom>
          <a:solidFill>
            <a:srgbClr val="1D4ED8">
              <a:alpha val="100000"/>
            </a:srgbClr>
          </a:solidFill>
          <a:ln>
            <a:noFill/>
          </a:ln>
        </p:spPr>
      </p:sp>
      <p:sp>
        <p:nvSpPr>
          <p:cNvPr id="60" name="文字 60"/>
          <p:cNvSpPr txBox="1"/>
          <p:nvPr/>
        </p:nvSpPr>
        <p:spPr>
          <a:xfrm>
            <a:off x="6704442" y="3919629"/>
            <a:ext cx="1664307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防线② 有边界的自治 ——「修」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5883519" y="4228950"/>
            <a:ext cx="2083681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受理：修「技术性失败」——SQL 语法 · 执行类报错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5883519" y="4450249"/>
            <a:ext cx="2070101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动作：先脚本定位 → 旧会话恢复修复 → 修完必重验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5883519" y="4671549"/>
            <a:ext cx="1511750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好处：技术问题不过夜，不占人工停等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5883519" y="4892848"/>
            <a:ext cx="909131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代价：分钟级 · 全自动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883519" y="5114147"/>
            <a:ext cx="1869140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限位：≤3 轮 · 职责白名单 · 数据类问题禁自愈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5883519" y="5374284"/>
            <a:ext cx="3039488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第四类翻车（掩盖根因）由防线②定位、防线③裁决——不许用小技巧「消掉」报错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5883519" y="5639843"/>
            <a:ext cx="1076166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（详见「防线②」页判定树）</a:t>
            </a:r>
            <a:endParaRPr/>
          </a:p>
        </p:txBody>
      </p:sp>
      <p:sp>
        <p:nvSpPr>
          <p:cNvPr id="68" name="形状 68"/>
          <p:cNvSpPr/>
          <p:nvPr/>
        </p:nvSpPr>
        <p:spPr>
          <a:xfrm>
            <a:off x="9601933" y="3123063"/>
            <a:ext cx="1699846" cy="2876889"/>
          </a:xfrm>
          <a:prstGeom prst="roundRect">
            <a:avLst>
              <a:gd name="adj" fmla="val 6250"/>
            </a:avLst>
          </a:prstGeom>
          <a:solidFill>
            <a:srgbClr val="FFFBEB">
              <a:alpha val="100000"/>
            </a:srgbClr>
          </a:solidFill>
          <a:ln w="19123">
            <a:solidFill>
              <a:srgbClr val="F59E0B">
                <a:alpha val="100000"/>
              </a:srgbClr>
            </a:solidFill>
            <a:prstDash val="solid"/>
          </a:ln>
        </p:spPr>
      </p:sp>
      <p:sp>
        <p:nvSpPr>
          <p:cNvPr id="69" name="形状 69"/>
          <p:cNvSpPr/>
          <p:nvPr/>
        </p:nvSpPr>
        <p:spPr>
          <a:xfrm>
            <a:off x="9601933" y="3123063"/>
            <a:ext cx="1699846" cy="265559"/>
          </a:xfrm>
          <a:prstGeom prst="roundRect">
            <a:avLst>
              <a:gd name="adj" fmla="val 40006"/>
            </a:avLst>
          </a:prstGeom>
          <a:solidFill>
            <a:srgbClr val="D97706">
              <a:alpha val="100000"/>
            </a:srgbClr>
          </a:solidFill>
          <a:ln>
            <a:noFill/>
          </a:ln>
        </p:spPr>
      </p:sp>
      <p:sp>
        <p:nvSpPr>
          <p:cNvPr id="70" name="形状 70"/>
          <p:cNvSpPr/>
          <p:nvPr/>
        </p:nvSpPr>
        <p:spPr>
          <a:xfrm>
            <a:off x="9601933" y="3255843"/>
            <a:ext cx="1699846" cy="132779"/>
          </a:xfrm>
          <a:prstGeom prst="rect">
            <a:avLst/>
          </a:prstGeom>
          <a:solidFill>
            <a:srgbClr val="D97706">
              <a:alpha val="100000"/>
            </a:srgbClr>
          </a:solidFill>
          <a:ln>
            <a:noFill/>
          </a:ln>
        </p:spPr>
      </p:sp>
      <p:sp>
        <p:nvSpPr>
          <p:cNvPr id="71" name="文字 71"/>
          <p:cNvSpPr txBox="1"/>
          <p:nvPr/>
        </p:nvSpPr>
        <p:spPr>
          <a:xfrm>
            <a:off x="10038954" y="3200407"/>
            <a:ext cx="838504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防线③ 人守闸口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9686925" y="3512550"/>
            <a:ext cx="1655771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受理：语义口径 · 放行 · 规则没覆盖的一切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686925" y="3711719"/>
            <a:ext cx="1287585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动作：两个闸口人判；告警三选一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686925" y="3910888"/>
            <a:ext cx="1457569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材料永远是选择题：现象＋证据＋选项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9686925" y="4110057"/>
            <a:ext cx="1386685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代价：停等 · 最贵——只花在刀刃上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9686925" y="4309227"/>
            <a:ext cx="1046716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限位：三条红线 · 决策留痕</a:t>
            </a:r>
            <a:endParaRPr/>
          </a:p>
        </p:txBody>
      </p:sp>
      <p:sp>
        <p:nvSpPr>
          <p:cNvPr id="77" name="形状 77"/>
          <p:cNvSpPr/>
          <p:nvPr/>
        </p:nvSpPr>
        <p:spPr>
          <a:xfrm>
            <a:off x="10334991" y="4771742"/>
            <a:ext cx="233729" cy="243429"/>
          </a:xfrm>
          <a:prstGeom prst="ellipse">
            <a:avLst/>
          </a:prstGeom>
          <a:noFill/>
          <a:ln w="21248">
            <a:solidFill>
              <a:srgbClr val="D97706">
                <a:alpha val="100000"/>
              </a:srgbClr>
            </a:solidFill>
            <a:prstDash val="solid"/>
          </a:ln>
        </p:spPr>
      </p:sp>
      <p:sp>
        <p:nvSpPr>
          <p:cNvPr id="78" name="形状 78"/>
          <p:cNvSpPr/>
          <p:nvPr/>
        </p:nvSpPr>
        <p:spPr>
          <a:xfrm>
            <a:off x="10281871" y="5070496"/>
            <a:ext cx="339969" cy="420468"/>
          </a:xfrm>
          <a:prstGeom prst="roundRect">
            <a:avLst>
              <a:gd name="adj" fmla="val 28125"/>
            </a:avLst>
          </a:prstGeom>
          <a:noFill/>
          <a:ln w="21248">
            <a:solidFill>
              <a:srgbClr val="D97706">
                <a:alpha val="100000"/>
              </a:srgbClr>
            </a:solidFill>
            <a:prstDash val="solid"/>
          </a:ln>
        </p:spPr>
      </p:sp>
      <p:cxnSp>
        <p:nvCxnSpPr>
          <p:cNvPr id="79" name="直线 79"/>
          <p:cNvCxnSpPr/>
          <p:nvPr/>
        </p:nvCxnSpPr>
        <p:spPr>
          <a:xfrm>
            <a:off x="10196879" y="5623744"/>
            <a:ext cx="509954" cy="0"/>
          </a:xfrm>
          <a:prstGeom prst="line">
            <a:avLst/>
          </a:prstGeom>
          <a:ln w="21248">
            <a:solidFill>
              <a:srgbClr val="D97706">
                <a:alpha val="100000"/>
              </a:srgbClr>
            </a:solidFill>
            <a:prstDash val="solid"/>
          </a:ln>
        </p:spPr>
      </p:cxnSp>
      <p:sp>
        <p:nvSpPr>
          <p:cNvPr id="80" name="文字 80"/>
          <p:cNvSpPr txBox="1"/>
          <p:nvPr/>
        </p:nvSpPr>
        <p:spPr>
          <a:xfrm>
            <a:off x="10196879" y="5769801"/>
            <a:ext cx="522654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最后的守门人</a:t>
            </a:r>
            <a:endParaRPr/>
          </a:p>
        </p:txBody>
      </p:sp>
      <p:cxnSp>
        <p:nvCxnSpPr>
          <p:cNvPr id="81" name="直线 81"/>
          <p:cNvCxnSpPr/>
          <p:nvPr/>
        </p:nvCxnSpPr>
        <p:spPr>
          <a:xfrm>
            <a:off x="5479806" y="5225405"/>
            <a:ext cx="254977" cy="0"/>
          </a:xfrm>
          <a:prstGeom prst="line">
            <a:avLst/>
          </a:prstGeom>
          <a:ln w="19123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82" name="文字 82"/>
          <p:cNvSpPr txBox="1"/>
          <p:nvPr/>
        </p:nvSpPr>
        <p:spPr>
          <a:xfrm>
            <a:off x="5402782" y="5020205"/>
            <a:ext cx="42172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技术可修的</a:t>
            </a:r>
            <a:endParaRPr/>
          </a:p>
        </p:txBody>
      </p:sp>
      <p:cxnSp>
        <p:nvCxnSpPr>
          <p:cNvPr id="83" name="直线 83"/>
          <p:cNvCxnSpPr/>
          <p:nvPr/>
        </p:nvCxnSpPr>
        <p:spPr>
          <a:xfrm>
            <a:off x="9304460" y="5225405"/>
            <a:ext cx="254977" cy="0"/>
          </a:xfrm>
          <a:prstGeom prst="line">
            <a:avLst/>
          </a:prstGeom>
          <a:ln w="19123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84" name="文字 84"/>
          <p:cNvSpPr txBox="1"/>
          <p:nvPr/>
        </p:nvSpPr>
        <p:spPr>
          <a:xfrm>
            <a:off x="9125179" y="5020205"/>
            <a:ext cx="626238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修不了的/属语义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4400672" y="6071376"/>
            <a:ext cx="340335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块宽 ≈ 该层拦截的问题占比——绝大多数问题死在最便宜的防线①，人的时间只花在语义终裁</a:t>
            </a:r>
            <a:endParaRPr/>
          </a:p>
        </p:txBody>
      </p:sp>
      <p:sp>
        <p:nvSpPr>
          <p:cNvPr id="86" name="形状 86"/>
          <p:cNvSpPr/>
          <p:nvPr/>
        </p:nvSpPr>
        <p:spPr>
          <a:xfrm>
            <a:off x="890221" y="6221251"/>
            <a:ext cx="10411558" cy="309819"/>
          </a:xfrm>
          <a:prstGeom prst="roundRect">
            <a:avLst>
              <a:gd name="adj" fmla="val 20575"/>
            </a:avLst>
          </a:prstGeom>
          <a:solidFill>
            <a:srgbClr val="1E293B">
              <a:alpha val="100000"/>
            </a:srgbClr>
          </a:solidFill>
          <a:ln>
            <a:noFill/>
          </a:ln>
        </p:spPr>
      </p:sp>
      <p:sp>
        <p:nvSpPr>
          <p:cNvPr id="87" name="文字 87"/>
          <p:cNvSpPr txBox="1"/>
          <p:nvPr/>
        </p:nvSpPr>
        <p:spPr>
          <a:xfrm>
            <a:off x="3898626" y="6315082"/>
            <a:ext cx="4407447" cy="1673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76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能算的让脚本算 · 能修的让 AI 修 · 该裁的让人裁——拦截尽量前移，防线递进兜底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第 3 页"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文字 4"/>
          <p:cNvSpPr txBox="1"/>
          <p:nvPr/>
        </p:nvSpPr>
        <p:spPr>
          <a:xfrm>
            <a:off x="571500" y="311150"/>
            <a:ext cx="128279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200">
                <a:solidFill>
                  <a:srgbClr val="2563EB">
                    <a:alpha val="100000"/>
                  </a:srgbClr>
                </a:solidFill>
                <a:latin typeface="Courier New"/>
                <a:ea typeface="Courier New"/>
                <a:cs typeface="Courier New"/>
              </a:rPr>
              <a:t xml:space="preserve">02 / 流程与产物</a:t>
            </a:r>
            <a:endParaRPr/>
          </a:p>
        </p:txBody>
      </p:sp>
      <p:sp>
        <p:nvSpPr>
          <p:cNvPr id="5" name="文字 5"/>
          <p:cNvSpPr txBox="1"/>
          <p:nvPr/>
        </p:nvSpPr>
        <p:spPr>
          <a:xfrm>
            <a:off x="571500" y="508000"/>
            <a:ext cx="2870200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我们的流程与产物：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3429000" y="508000"/>
            <a:ext cx="3505200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八道工序，一次齐套交付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71500" y="946150"/>
            <a:ext cx="90805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主链全自动流转；三道防线按工序落位（下方覆盖泳道，与主链上下对齐）；生产者与质检者分岗制衡——防线不是概念，是流程本身。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890221" y="1363624"/>
            <a:ext cx="3571549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主链八道工序——三个 AI 岗位执行，两道闸口人判，其余全自动流转：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890221" y="1728878"/>
            <a:ext cx="977412" cy="464728"/>
          </a:xfrm>
          <a:prstGeom prst="roundRect">
            <a:avLst>
              <a:gd name="adj" fmla="val 16003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10" name="文字 10"/>
          <p:cNvSpPr txBox="1"/>
          <p:nvPr/>
        </p:nvSpPr>
        <p:spPr>
          <a:xfrm>
            <a:off x="1202568" y="1838919"/>
            <a:ext cx="365418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输入材料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1072955" y="2015240"/>
            <a:ext cx="624644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需求说明书＋映射</a:t>
            </a:r>
            <a:endParaRPr/>
          </a:p>
        </p:txBody>
      </p:sp>
      <p:cxnSp>
        <p:nvCxnSpPr>
          <p:cNvPr id="12" name="直线 12"/>
          <p:cNvCxnSpPr/>
          <p:nvPr/>
        </p:nvCxnSpPr>
        <p:spPr>
          <a:xfrm>
            <a:off x="1867633" y="1961243"/>
            <a:ext cx="318721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13" name="形状 13"/>
          <p:cNvSpPr/>
          <p:nvPr/>
        </p:nvSpPr>
        <p:spPr>
          <a:xfrm>
            <a:off x="2250098" y="1728878"/>
            <a:ext cx="1168644" cy="464728"/>
          </a:xfrm>
          <a:prstGeom prst="roundRect">
            <a:avLst>
              <a:gd name="adj" fmla="val 16003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14" name="文字 14"/>
          <p:cNvSpPr txBox="1"/>
          <p:nvPr/>
        </p:nvSpPr>
        <p:spPr>
          <a:xfrm>
            <a:off x="2562563" y="1838919"/>
            <a:ext cx="556414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预处理 · 预检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2643188" y="2015240"/>
            <a:ext cx="395165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结构化入参</a:t>
            </a:r>
            <a:endParaRPr/>
          </a:p>
        </p:txBody>
      </p:sp>
      <p:cxnSp>
        <p:nvCxnSpPr>
          <p:cNvPr id="16" name="直线 16"/>
          <p:cNvCxnSpPr/>
          <p:nvPr/>
        </p:nvCxnSpPr>
        <p:spPr>
          <a:xfrm>
            <a:off x="3418742" y="1961243"/>
            <a:ext cx="318721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17" name="形状 17"/>
          <p:cNvSpPr/>
          <p:nvPr/>
        </p:nvSpPr>
        <p:spPr>
          <a:xfrm>
            <a:off x="3801208" y="1728878"/>
            <a:ext cx="1009284" cy="464728"/>
          </a:xfrm>
          <a:prstGeom prst="roundRect">
            <a:avLst>
              <a:gd name="adj" fmla="val 16003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18" name="文字 18"/>
          <p:cNvSpPr txBox="1"/>
          <p:nvPr/>
        </p:nvSpPr>
        <p:spPr>
          <a:xfrm>
            <a:off x="4168268" y="1838919"/>
            <a:ext cx="277238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设计岗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3997740" y="2015240"/>
            <a:ext cx="618295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产出 TS 设计文档</a:t>
            </a:r>
            <a:endParaRPr/>
          </a:p>
        </p:txBody>
      </p:sp>
      <p:cxnSp>
        <p:nvCxnSpPr>
          <p:cNvPr id="20" name="直线 20"/>
          <p:cNvCxnSpPr/>
          <p:nvPr/>
        </p:nvCxnSpPr>
        <p:spPr>
          <a:xfrm>
            <a:off x="4810491" y="1961243"/>
            <a:ext cx="127488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21" name="文字 21"/>
          <p:cNvSpPr txBox="1"/>
          <p:nvPr/>
        </p:nvSpPr>
        <p:spPr>
          <a:xfrm>
            <a:off x="5166928" y="1849984"/>
            <a:ext cx="277238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闸口①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5222704" y="2015240"/>
            <a:ext cx="165686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人判</a:t>
            </a:r>
            <a:endParaRPr/>
          </a:p>
        </p:txBody>
      </p:sp>
      <p:cxnSp>
        <p:nvCxnSpPr>
          <p:cNvPr id="23" name="直线 23"/>
          <p:cNvCxnSpPr/>
          <p:nvPr/>
        </p:nvCxnSpPr>
        <p:spPr>
          <a:xfrm>
            <a:off x="5596670" y="1961243"/>
            <a:ext cx="679938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24" name="形状 24"/>
          <p:cNvSpPr/>
          <p:nvPr/>
        </p:nvSpPr>
        <p:spPr>
          <a:xfrm>
            <a:off x="6340353" y="1728878"/>
            <a:ext cx="1317381" cy="464728"/>
          </a:xfrm>
          <a:prstGeom prst="roundRect">
            <a:avLst>
              <a:gd name="adj" fmla="val 16003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25" name="文字 25"/>
          <p:cNvSpPr txBox="1"/>
          <p:nvPr/>
        </p:nvSpPr>
        <p:spPr>
          <a:xfrm>
            <a:off x="6617491" y="1838919"/>
            <a:ext cx="775804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建造（编码∥质检）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6807811" y="2015240"/>
            <a:ext cx="395165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产出四件套</a:t>
            </a:r>
            <a:endParaRPr/>
          </a:p>
        </p:txBody>
      </p:sp>
      <p:cxnSp>
        <p:nvCxnSpPr>
          <p:cNvPr id="27" name="直线 27"/>
          <p:cNvCxnSpPr/>
          <p:nvPr/>
        </p:nvCxnSpPr>
        <p:spPr>
          <a:xfrm>
            <a:off x="7657734" y="1961243"/>
            <a:ext cx="350593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28" name="形状 28"/>
          <p:cNvSpPr/>
          <p:nvPr/>
        </p:nvSpPr>
        <p:spPr>
          <a:xfrm>
            <a:off x="8072071" y="1728878"/>
            <a:ext cx="956163" cy="464728"/>
          </a:xfrm>
          <a:prstGeom prst="roundRect">
            <a:avLst>
              <a:gd name="adj" fmla="val 16003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29" name="文字 29"/>
          <p:cNvSpPr txBox="1"/>
          <p:nvPr/>
        </p:nvSpPr>
        <p:spPr>
          <a:xfrm>
            <a:off x="8314317" y="1838919"/>
            <a:ext cx="484371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自测（UT）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320712" y="2015240"/>
            <a:ext cx="471582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产出 UT 报告</a:t>
            </a:r>
            <a:endParaRPr/>
          </a:p>
        </p:txBody>
      </p:sp>
      <p:cxnSp>
        <p:nvCxnSpPr>
          <p:cNvPr id="31" name="直线 31"/>
          <p:cNvCxnSpPr/>
          <p:nvPr/>
        </p:nvCxnSpPr>
        <p:spPr>
          <a:xfrm>
            <a:off x="9028235" y="1961243"/>
            <a:ext cx="53120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32" name="文字 32"/>
          <p:cNvSpPr txBox="1"/>
          <p:nvPr/>
        </p:nvSpPr>
        <p:spPr>
          <a:xfrm>
            <a:off x="9310303" y="1849984"/>
            <a:ext cx="277238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闸口②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366079" y="2015240"/>
            <a:ext cx="165686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人判</a:t>
            </a:r>
            <a:endParaRPr/>
          </a:p>
        </p:txBody>
      </p:sp>
      <p:cxnSp>
        <p:nvCxnSpPr>
          <p:cNvPr id="34" name="直线 34"/>
          <p:cNvCxnSpPr/>
          <p:nvPr/>
        </p:nvCxnSpPr>
        <p:spPr>
          <a:xfrm>
            <a:off x="9740045" y="1961243"/>
            <a:ext cx="626818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35" name="形状 35"/>
          <p:cNvSpPr/>
          <p:nvPr/>
        </p:nvSpPr>
        <p:spPr>
          <a:xfrm>
            <a:off x="10430608" y="1728878"/>
            <a:ext cx="871171" cy="464728"/>
          </a:xfrm>
          <a:prstGeom prst="roundRect">
            <a:avLst>
              <a:gd name="adj" fmla="val 16003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36" name="文字 36"/>
          <p:cNvSpPr txBox="1"/>
          <p:nvPr/>
        </p:nvSpPr>
        <p:spPr>
          <a:xfrm>
            <a:off x="10689834" y="1838919"/>
            <a:ext cx="365418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制品交付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636714" y="2015240"/>
            <a:ext cx="471658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制品包＋档案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890221" y="2381600"/>
            <a:ext cx="2188416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上下文隔离：生产者 ∥ 检验者，到底怎么做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90221" y="2608045"/>
            <a:ext cx="2671364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同一份原料（需求＋映射），两套独立理解——不一致＝歧义自动暴露上交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890221" y="3078803"/>
            <a:ext cx="1115524" cy="354079"/>
          </a:xfrm>
          <a:prstGeom prst="roundRect">
            <a:avLst>
              <a:gd name="adj" fmla="val 21003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41" name="文字 41"/>
          <p:cNvSpPr txBox="1"/>
          <p:nvPr/>
        </p:nvSpPr>
        <p:spPr>
          <a:xfrm>
            <a:off x="1156353" y="3161293"/>
            <a:ext cx="58533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同一份输入原料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174945" y="3309840"/>
            <a:ext cx="548151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需求＋字段映射</a:t>
            </a:r>
            <a:endParaRPr/>
          </a:p>
        </p:txBody>
      </p:sp>
      <p:cxnSp>
        <p:nvCxnSpPr>
          <p:cNvPr id="43" name="直线 43"/>
          <p:cNvCxnSpPr/>
          <p:nvPr/>
        </p:nvCxnSpPr>
        <p:spPr>
          <a:xfrm flipV="1">
            <a:off x="2005745" y="3012414"/>
            <a:ext cx="169985" cy="154909"/>
          </a:xfrm>
          <a:prstGeom prst="line">
            <a:avLst/>
          </a:prstGeom>
          <a:ln w="13811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cxnSp>
        <p:nvCxnSpPr>
          <p:cNvPr id="44" name="直线 44"/>
          <p:cNvCxnSpPr/>
          <p:nvPr/>
        </p:nvCxnSpPr>
        <p:spPr>
          <a:xfrm>
            <a:off x="2005745" y="3344362"/>
            <a:ext cx="169985" cy="88520"/>
          </a:xfrm>
          <a:prstGeom prst="line">
            <a:avLst/>
          </a:prstGeom>
          <a:ln w="13811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45" name="形状 45"/>
          <p:cNvSpPr/>
          <p:nvPr/>
        </p:nvSpPr>
        <p:spPr>
          <a:xfrm>
            <a:off x="2239474" y="2813244"/>
            <a:ext cx="1434245" cy="309819"/>
          </a:xfrm>
          <a:prstGeom prst="roundRect">
            <a:avLst>
              <a:gd name="adj" fmla="val 24004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46" name="文字 46"/>
          <p:cNvSpPr txBox="1"/>
          <p:nvPr/>
        </p:nvSpPr>
        <p:spPr>
          <a:xfrm>
            <a:off x="2658177" y="2939993"/>
            <a:ext cx="59891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设计岗 · 生产者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2239474" y="3300102"/>
            <a:ext cx="1434245" cy="309819"/>
          </a:xfrm>
          <a:prstGeom prst="roundRect">
            <a:avLst>
              <a:gd name="adj" fmla="val 24004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dash"/>
          </a:ln>
        </p:spPr>
      </p:sp>
      <p:sp>
        <p:nvSpPr>
          <p:cNvPr id="48" name="文字 48"/>
          <p:cNvSpPr txBox="1"/>
          <p:nvPr/>
        </p:nvSpPr>
        <p:spPr>
          <a:xfrm>
            <a:off x="2658177" y="3426852"/>
            <a:ext cx="59891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质检岗 · 检验者</a:t>
            </a:r>
            <a:endParaRPr/>
          </a:p>
        </p:txBody>
      </p:sp>
      <p:cxnSp>
        <p:nvCxnSpPr>
          <p:cNvPr id="49" name="直线 49"/>
          <p:cNvCxnSpPr/>
          <p:nvPr/>
        </p:nvCxnSpPr>
        <p:spPr>
          <a:xfrm>
            <a:off x="3673719" y="2968154"/>
            <a:ext cx="148737" cy="110650"/>
          </a:xfrm>
          <a:prstGeom prst="line">
            <a:avLst/>
          </a:prstGeom>
          <a:ln w="13811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cxnSp>
        <p:nvCxnSpPr>
          <p:cNvPr id="50" name="直线 50"/>
          <p:cNvCxnSpPr/>
          <p:nvPr/>
        </p:nvCxnSpPr>
        <p:spPr>
          <a:xfrm flipV="1">
            <a:off x="3673719" y="3344362"/>
            <a:ext cx="148737" cy="110650"/>
          </a:xfrm>
          <a:prstGeom prst="line">
            <a:avLst/>
          </a:prstGeom>
          <a:ln w="13811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51" name="形状 51"/>
          <p:cNvSpPr/>
          <p:nvPr/>
        </p:nvSpPr>
        <p:spPr>
          <a:xfrm>
            <a:off x="3864952" y="3034543"/>
            <a:ext cx="1859207" cy="354079"/>
          </a:xfrm>
          <a:prstGeom prst="roundRect">
            <a:avLst>
              <a:gd name="adj" fmla="val 21003"/>
            </a:avLst>
          </a:prstGeom>
          <a:solidFill>
            <a:srgbClr val="FFFBEB">
              <a:alpha val="100000"/>
            </a:srgbClr>
          </a:solidFill>
          <a:ln w="14874">
            <a:solidFill>
              <a:srgbClr val="F59E0B">
                <a:alpha val="100000"/>
              </a:srgbClr>
            </a:solidFill>
            <a:prstDash val="solid"/>
          </a:ln>
        </p:spPr>
      </p:sp>
      <p:sp>
        <p:nvSpPr>
          <p:cNvPr id="52" name="文字 52"/>
          <p:cNvSpPr txBox="1"/>
          <p:nvPr/>
        </p:nvSpPr>
        <p:spPr>
          <a:xfrm>
            <a:off x="4298413" y="3117033"/>
            <a:ext cx="994361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两读不一致＝歧义自动暴露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330285" y="3265580"/>
            <a:ext cx="930617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显式上交人工，不静默拍板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890221" y="3670281"/>
            <a:ext cx="2929296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① 输入隔离：质检岗不读实现 SQL、不听口径自述——只拿原始原料＋产物接口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90221" y="3891580"/>
            <a:ext cx="2307986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② 干净会话：独立短会话防锚定；检查 FAIL 分钟级短回路自修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890221" y="4112879"/>
            <a:ext cx="192145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③ 产物边界：各岗只准写自己的产物，越界落不了盘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890221" y="4372795"/>
            <a:ext cx="4039059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差别在思维：生产者构造（把活干出来）· 检验者证伪（独立重算挑错）——DQ 断言式＋对比式双模式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6255361" y="2381600"/>
            <a:ext cx="1945844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确定性规则 · 脚本执行：避免模型发散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6255361" y="2608045"/>
            <a:ext cx="238504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规则由脚本裁决，不由模型自由发挥——模型只起草，规则定对错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6255361" y="2829344"/>
            <a:ext cx="1918332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✗ 复查靠再叫一个 LLM：被生成者锚定，跟着一起错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6255361" y="3028513"/>
            <a:ext cx="239299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✓ 把关靠确定性脚本：规则固定无裁量——同脚本跑两遍必同结果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6255361" y="3233713"/>
            <a:ext cx="446210" cy="199169"/>
          </a:xfrm>
          <a:prstGeom prst="roundRect">
            <a:avLst>
              <a:gd name="adj" fmla="val 21337"/>
            </a:avLst>
          </a:prstGeom>
          <a:solidFill>
            <a:srgbClr val="DBEAFE">
              <a:alpha val="100000"/>
            </a:srgbClr>
          </a:solidFill>
          <a:ln w="10624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63" name="文字 63"/>
          <p:cNvSpPr txBox="1"/>
          <p:nvPr/>
        </p:nvSpPr>
        <p:spPr>
          <a:xfrm>
            <a:off x="6433870" y="3309840"/>
            <a:ext cx="101891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G1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6786562" y="3305137"/>
            <a:ext cx="2316821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输入预检：连库核类型 · 值域探测——类型炸批、溢出拦输入侧</a:t>
            </a:r>
            <a:endParaRPr/>
          </a:p>
        </p:txBody>
      </p:sp>
      <p:sp>
        <p:nvSpPr>
          <p:cNvPr id="65" name="形状 65"/>
          <p:cNvSpPr/>
          <p:nvPr/>
        </p:nvSpPr>
        <p:spPr>
          <a:xfrm>
            <a:off x="6255361" y="3477142"/>
            <a:ext cx="446210" cy="199169"/>
          </a:xfrm>
          <a:prstGeom prst="roundRect">
            <a:avLst>
              <a:gd name="adj" fmla="val 21337"/>
            </a:avLst>
          </a:prstGeom>
          <a:solidFill>
            <a:srgbClr val="DBEAFE">
              <a:alpha val="100000"/>
            </a:srgbClr>
          </a:solidFill>
          <a:ln w="10624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66" name="文字 66"/>
          <p:cNvSpPr txBox="1"/>
          <p:nvPr/>
        </p:nvSpPr>
        <p:spPr>
          <a:xfrm>
            <a:off x="6426603" y="3553269"/>
            <a:ext cx="116424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G2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786562" y="3548566"/>
            <a:ext cx="1937818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装配校验：54 条结构＋引用门禁——幻觉字段直接拦</a:t>
            </a:r>
            <a:endParaRPr/>
          </a:p>
        </p:txBody>
      </p:sp>
      <p:sp>
        <p:nvSpPr>
          <p:cNvPr id="68" name="形状 68"/>
          <p:cNvSpPr/>
          <p:nvPr/>
        </p:nvSpPr>
        <p:spPr>
          <a:xfrm>
            <a:off x="6255361" y="3720571"/>
            <a:ext cx="446210" cy="199169"/>
          </a:xfrm>
          <a:prstGeom prst="roundRect">
            <a:avLst>
              <a:gd name="adj" fmla="val 21337"/>
            </a:avLst>
          </a:prstGeom>
          <a:solidFill>
            <a:srgbClr val="DBEAFE">
              <a:alpha val="100000"/>
            </a:srgbClr>
          </a:solidFill>
          <a:ln w="10624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69" name="文字 69"/>
          <p:cNvSpPr txBox="1"/>
          <p:nvPr/>
        </p:nvSpPr>
        <p:spPr>
          <a:xfrm>
            <a:off x="6426603" y="3796698"/>
            <a:ext cx="116424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G3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786562" y="3791995"/>
            <a:ext cx="189200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口径对账：表达式 vs SQL 逐条——译反、漂移拦下</a:t>
            </a:r>
            <a:endParaRPr/>
          </a:p>
        </p:txBody>
      </p:sp>
      <p:sp>
        <p:nvSpPr>
          <p:cNvPr id="71" name="形状 71"/>
          <p:cNvSpPr/>
          <p:nvPr/>
        </p:nvSpPr>
        <p:spPr>
          <a:xfrm>
            <a:off x="6255361" y="3964000"/>
            <a:ext cx="446210" cy="199169"/>
          </a:xfrm>
          <a:prstGeom prst="roundRect">
            <a:avLst>
              <a:gd name="adj" fmla="val 21337"/>
            </a:avLst>
          </a:prstGeom>
          <a:solidFill>
            <a:srgbClr val="DBEAFE">
              <a:alpha val="100000"/>
            </a:srgbClr>
          </a:solidFill>
          <a:ln w="10624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72" name="文字 72"/>
          <p:cNvSpPr txBox="1"/>
          <p:nvPr/>
        </p:nvSpPr>
        <p:spPr>
          <a:xfrm>
            <a:off x="6426603" y="4040127"/>
            <a:ext cx="116424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G4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6786562" y="4035424"/>
            <a:ext cx="1812411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执行预检：计划真跑＋列序实测——静默错位拦下</a:t>
            </a:r>
            <a:endParaRPr/>
          </a:p>
        </p:txBody>
      </p:sp>
      <p:sp>
        <p:nvSpPr>
          <p:cNvPr id="74" name="形状 74"/>
          <p:cNvSpPr/>
          <p:nvPr/>
        </p:nvSpPr>
        <p:spPr>
          <a:xfrm>
            <a:off x="6255361" y="4207429"/>
            <a:ext cx="446210" cy="199169"/>
          </a:xfrm>
          <a:prstGeom prst="roundRect">
            <a:avLst>
              <a:gd name="adj" fmla="val 21337"/>
            </a:avLst>
          </a:prstGeom>
          <a:solidFill>
            <a:srgbClr val="DBEAFE">
              <a:alpha val="100000"/>
            </a:srgbClr>
          </a:solidFill>
          <a:ln w="10624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75" name="文字 75"/>
          <p:cNvSpPr txBox="1"/>
          <p:nvPr/>
        </p:nvSpPr>
        <p:spPr>
          <a:xfrm>
            <a:off x="6426603" y="4283556"/>
            <a:ext cx="116424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G5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786562" y="4278853"/>
            <a:ext cx="192137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数据实测：主键 / 空值 / 行数——对着真实数据说话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6255361" y="4427400"/>
            <a:ext cx="1848533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全程落盘可回溯：报告与原文全留痕——审查审计有据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90221" y="4683112"/>
            <a:ext cx="3315914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失败分流诊断：先定位 · 按根因找岗 · 轮次有限——判定树见下页</a:t>
            </a:r>
            <a:endParaRPr/>
          </a:p>
        </p:txBody>
      </p:sp>
      <p:sp>
        <p:nvSpPr>
          <p:cNvPr id="79" name="形状 79"/>
          <p:cNvSpPr/>
          <p:nvPr/>
        </p:nvSpPr>
        <p:spPr>
          <a:xfrm>
            <a:off x="890221" y="4893456"/>
            <a:ext cx="2496649" cy="331949"/>
          </a:xfrm>
          <a:prstGeom prst="roundRect">
            <a:avLst>
              <a:gd name="adj" fmla="val 22404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80" name="文字 80"/>
          <p:cNvSpPr txBox="1"/>
          <p:nvPr/>
        </p:nvSpPr>
        <p:spPr>
          <a:xfrm>
            <a:off x="1598761" y="4964881"/>
            <a:ext cx="1081646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SQL 语法 → 编码岗修 ≤3 轮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1789015" y="5102363"/>
            <a:ext cx="701137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重走预检＋数据实测</a:t>
            </a:r>
            <a:endParaRPr/>
          </a:p>
        </p:txBody>
      </p:sp>
      <p:sp>
        <p:nvSpPr>
          <p:cNvPr id="82" name="形状 82"/>
          <p:cNvSpPr/>
          <p:nvPr/>
        </p:nvSpPr>
        <p:spPr>
          <a:xfrm>
            <a:off x="3461238" y="4893456"/>
            <a:ext cx="2496649" cy="331949"/>
          </a:xfrm>
          <a:prstGeom prst="roundRect">
            <a:avLst>
              <a:gd name="adj" fmla="val 22404"/>
            </a:avLst>
          </a:prstGeom>
          <a:solidFill>
            <a:srgbClr val="FEF2F2">
              <a:alpha val="100000"/>
            </a:srgbClr>
          </a:solidFill>
          <a:ln w="12749">
            <a:solidFill>
              <a:srgbClr val="FECACA">
                <a:alpha val="100000"/>
              </a:srgbClr>
            </a:solidFill>
            <a:prstDash val="solid"/>
          </a:ln>
        </p:spPr>
      </p:sp>
      <p:sp>
        <p:nvSpPr>
          <p:cNvPr id="83" name="文字 83"/>
          <p:cNvSpPr txBox="1"/>
          <p:nvPr/>
        </p:nvSpPr>
        <p:spPr>
          <a:xfrm>
            <a:off x="4308887" y="4964881"/>
            <a:ext cx="80342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数据质量 → 退设计岗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4321786" y="5102363"/>
            <a:ext cx="777630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改完必回闸口①人确认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6032256" y="4893456"/>
            <a:ext cx="2496649" cy="331949"/>
          </a:xfrm>
          <a:prstGeom prst="roundRect">
            <a:avLst>
              <a:gd name="adj" fmla="val 22404"/>
            </a:avLst>
          </a:prstGeom>
          <a:solidFill>
            <a:srgbClr val="FFFBEB">
              <a:alpha val="100000"/>
            </a:srgbClr>
          </a:solidFill>
          <a:ln w="12749">
            <a:solidFill>
              <a:srgbClr val="FDE68A">
                <a:alpha val="100000"/>
              </a:srgbClr>
            </a:solidFill>
            <a:prstDash val="solid"/>
          </a:ln>
        </p:spPr>
      </p:sp>
      <p:sp>
        <p:nvSpPr>
          <p:cNvPr id="86" name="文字 86"/>
          <p:cNvSpPr txBox="1"/>
          <p:nvPr/>
        </p:nvSpPr>
        <p:spPr>
          <a:xfrm>
            <a:off x="6743576" y="4964881"/>
            <a:ext cx="1076084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质检告警 → 闸口② 人三选一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6803612" y="5102363"/>
            <a:ext cx="956012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回改 · 人定口径 · 豁免留痕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8603273" y="4893456"/>
            <a:ext cx="2698506" cy="331949"/>
          </a:xfrm>
          <a:prstGeom prst="roundRect">
            <a:avLst>
              <a:gd name="adj" fmla="val 22404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89" name="文字 89"/>
          <p:cNvSpPr txBox="1"/>
          <p:nvPr/>
        </p:nvSpPr>
        <p:spPr>
          <a:xfrm>
            <a:off x="9557162" y="4964881"/>
            <a:ext cx="80342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环境问题 → 停＋报人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9493568" y="5102363"/>
            <a:ext cx="930617" cy="1075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27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附修复指引，不进自动回路</a:t>
            </a:r>
            <a:endParaRPr/>
          </a:p>
        </p:txBody>
      </p:sp>
      <p:sp>
        <p:nvSpPr>
          <p:cNvPr id="91" name="形状 91"/>
          <p:cNvSpPr/>
          <p:nvPr/>
        </p:nvSpPr>
        <p:spPr>
          <a:xfrm>
            <a:off x="890221" y="5313925"/>
            <a:ext cx="10411558" cy="199169"/>
          </a:xfrm>
          <a:prstGeom prst="roundRect">
            <a:avLst>
              <a:gd name="adj" fmla="val 26671"/>
            </a:avLst>
          </a:prstGeom>
          <a:solidFill>
            <a:srgbClr val="FFFBEB">
              <a:alpha val="100000"/>
            </a:srgbClr>
          </a:solidFill>
          <a:ln w="10624">
            <a:solidFill>
              <a:srgbClr val="FDE68A">
                <a:alpha val="100000"/>
              </a:srgbClr>
            </a:solidFill>
            <a:prstDash val="solid"/>
          </a:ln>
        </p:spPr>
      </p:sp>
      <p:sp>
        <p:nvSpPr>
          <p:cNvPr id="92" name="文字 92"/>
          <p:cNvSpPr txBox="1"/>
          <p:nvPr/>
        </p:nvSpPr>
        <p:spPr>
          <a:xfrm>
            <a:off x="4344063" y="5385349"/>
            <a:ext cx="3516575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三条红线：语义判断不自主 · 推生产不自主 · 重写不自主——「做」全自动，「判」的权始终在人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890221" y="5579484"/>
            <a:ext cx="10411558" cy="199169"/>
          </a:xfrm>
          <a:prstGeom prst="roundRect">
            <a:avLst>
              <a:gd name="adj" fmla="val 26671"/>
            </a:avLst>
          </a:prstGeom>
          <a:solidFill>
            <a:srgbClr val="EFF6FF">
              <a:alpha val="100000"/>
            </a:srgbClr>
          </a:solidFill>
          <a:ln w="10624">
            <a:solidFill>
              <a:srgbClr val="BFDBFE">
                <a:alpha val="100000"/>
              </a:srgbClr>
            </a:solidFill>
            <a:prstDash val="solid"/>
          </a:ln>
        </p:spPr>
      </p:sp>
      <p:sp>
        <p:nvSpPr>
          <p:cNvPr id="94" name="文字 94"/>
          <p:cNvSpPr txBox="1"/>
          <p:nvPr/>
        </p:nvSpPr>
        <p:spPr>
          <a:xfrm>
            <a:off x="4146422" y="5650908"/>
            <a:ext cx="391185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闸口供料：机器备料（摘要 · 实测 · 报告）→ 打包成选择题（现象＋证据＋选项）→ 人裁 → 决策留痕回写</a:t>
            </a:r>
            <a:endParaRPr/>
          </a:p>
        </p:txBody>
      </p:sp>
      <p:sp>
        <p:nvSpPr>
          <p:cNvPr id="95" name="形状 95"/>
          <p:cNvSpPr/>
          <p:nvPr/>
        </p:nvSpPr>
        <p:spPr>
          <a:xfrm>
            <a:off x="890221" y="6110602"/>
            <a:ext cx="10411558" cy="331949"/>
          </a:xfrm>
          <a:prstGeom prst="roundRect">
            <a:avLst>
              <a:gd name="adj" fmla="val 22404"/>
            </a:avLst>
          </a:prstGeom>
          <a:solidFill>
            <a:srgbClr val="1E293B">
              <a:alpha val="100000"/>
            </a:srgbClr>
          </a:solidFill>
          <a:ln>
            <a:noFill/>
          </a:ln>
        </p:spPr>
      </p:sp>
      <p:sp>
        <p:nvSpPr>
          <p:cNvPr id="96" name="文字 96"/>
          <p:cNvSpPr txBox="1"/>
          <p:nvPr/>
        </p:nvSpPr>
        <p:spPr>
          <a:xfrm>
            <a:off x="4006730" y="6237849"/>
            <a:ext cx="4191240" cy="149377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71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防线① 脚本把关 · 防线② 分流自治 · 防线③ 人守闸口——三层不在概念里，在流水线上</a:t>
            </a:r>
            <a:endParaRPr/>
          </a:p>
        </p:txBody>
      </p:sp>
      <p:sp>
        <p:nvSpPr>
          <p:cNvPr id="97" name="形状 97"/>
          <p:cNvSpPr/>
          <p:nvPr/>
        </p:nvSpPr>
        <p:spPr>
          <a:xfrm>
            <a:off x="11023600" y="558800"/>
            <a:ext cx="165100" cy="63500"/>
          </a:xfrm>
          <a:prstGeom prst="roundRect">
            <a:avLst>
              <a:gd name="adj" fmla="val 20000"/>
            </a:avLst>
          </a:prstGeom>
          <a:solidFill>
            <a:srgbClr val="2563EB">
              <a:alpha val="100000"/>
            </a:srgbClr>
          </a:solidFill>
          <a:ln>
            <a:noFill/>
          </a:ln>
        </p:spPr>
      </p:sp>
      <p:sp>
        <p:nvSpPr>
          <p:cNvPr id="98" name="形状 98"/>
          <p:cNvSpPr/>
          <p:nvPr/>
        </p:nvSpPr>
        <p:spPr>
          <a:xfrm>
            <a:off x="11233150" y="501650"/>
            <a:ext cx="165100" cy="120650"/>
          </a:xfrm>
          <a:prstGeom prst="roundRect">
            <a:avLst>
              <a:gd name="adj" fmla="val 10526"/>
            </a:avLst>
          </a:prstGeom>
          <a:solidFill>
            <a:srgbClr val="2563EB">
              <a:alpha val="100000"/>
            </a:srgbClr>
          </a:solidFill>
          <a:ln>
            <a:noFill/>
          </a:ln>
        </p:spPr>
      </p:sp>
      <p:sp>
        <p:nvSpPr>
          <p:cNvPr id="99" name="形状 99"/>
          <p:cNvSpPr/>
          <p:nvPr/>
        </p:nvSpPr>
        <p:spPr>
          <a:xfrm>
            <a:off x="11442700" y="431800"/>
            <a:ext cx="165100" cy="190500"/>
          </a:xfrm>
          <a:prstGeom prst="roundRect">
            <a:avLst>
              <a:gd name="adj" fmla="val 7692"/>
            </a:avLst>
          </a:prstGeom>
          <a:solidFill>
            <a:srgbClr val="D97706">
              <a:alpha val="100000"/>
            </a:srgbClr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第 4 页"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文字 4"/>
          <p:cNvSpPr txBox="1"/>
          <p:nvPr/>
        </p:nvSpPr>
        <p:spPr>
          <a:xfrm>
            <a:off x="571500" y="311150"/>
            <a:ext cx="204479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200">
                <a:solidFill>
                  <a:srgbClr val="2563EB">
                    <a:alpha val="100000"/>
                  </a:srgbClr>
                </a:solidFill>
                <a:latin typeface="Courier New"/>
                <a:ea typeface="Courier New"/>
                <a:cs typeface="Courier New"/>
              </a:rPr>
              <a:t xml:space="preserve">03 / 制品开发 · 失败分流</a:t>
            </a:r>
            <a:endParaRPr/>
          </a:p>
        </p:txBody>
      </p:sp>
      <p:sp>
        <p:nvSpPr>
          <p:cNvPr id="5" name="文字 5"/>
          <p:cNvSpPr txBox="1"/>
          <p:nvPr/>
        </p:nvSpPr>
        <p:spPr>
          <a:xfrm>
            <a:off x="571500" y="508000"/>
            <a:ext cx="1600200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制品开发：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2159000" y="508000"/>
            <a:ext cx="4753670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从 TS 到四件套，失败按根因分流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71500" y="946150"/>
            <a:ext cx="10983615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TS 切片给编码岗逐规则写加工 SQL，DDL、调度随之生成，质检岗并行出质检 SQL；口径对账、执行预检、UT 实测层层过——失败不裸报也不空转，按根因分流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571500" y="1159470"/>
            <a:ext cx="4699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修复。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890221" y="1529578"/>
            <a:ext cx="5286330" cy="15198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6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制品开发流水：TS 冻结 → 切片 → 建造 —— 四件套一次齐套：DDL · 加工 SQL · 调度配置 · 质检 SQL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890221" y="1688993"/>
            <a:ext cx="1009284" cy="297375"/>
          </a:xfrm>
          <a:prstGeom prst="roundRect">
            <a:avLst>
              <a:gd name="adj" fmla="val 25008"/>
            </a:avLst>
          </a:prstGeom>
          <a:solidFill>
            <a:srgbClr val="F8FAFC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11" name="文字 11"/>
          <p:cNvSpPr txBox="1"/>
          <p:nvPr/>
        </p:nvSpPr>
        <p:spPr>
          <a:xfrm>
            <a:off x="1157375" y="1815855"/>
            <a:ext cx="477053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TS（冻结）</a:t>
            </a:r>
            <a:endParaRPr/>
          </a:p>
        </p:txBody>
      </p:sp>
      <p:cxnSp>
        <p:nvCxnSpPr>
          <p:cNvPr id="12" name="直线 12"/>
          <p:cNvCxnSpPr/>
          <p:nvPr/>
        </p:nvCxnSpPr>
        <p:spPr>
          <a:xfrm>
            <a:off x="1920753" y="1837680"/>
            <a:ext cx="180609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13" name="形状 13"/>
          <p:cNvSpPr/>
          <p:nvPr/>
        </p:nvSpPr>
        <p:spPr>
          <a:xfrm>
            <a:off x="2143858" y="1688993"/>
            <a:ext cx="1381125" cy="297375"/>
          </a:xfrm>
          <a:prstGeom prst="roundRect">
            <a:avLst>
              <a:gd name="adj" fmla="val 25008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14" name="文字 14"/>
          <p:cNvSpPr txBox="1"/>
          <p:nvPr/>
        </p:nvSpPr>
        <p:spPr>
          <a:xfrm>
            <a:off x="2437613" y="1815855"/>
            <a:ext cx="806315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切片（按规则取料）</a:t>
            </a:r>
            <a:endParaRPr/>
          </a:p>
        </p:txBody>
      </p:sp>
      <p:cxnSp>
        <p:nvCxnSpPr>
          <p:cNvPr id="15" name="直线 15"/>
          <p:cNvCxnSpPr/>
          <p:nvPr/>
        </p:nvCxnSpPr>
        <p:spPr>
          <a:xfrm>
            <a:off x="3546231" y="1837680"/>
            <a:ext cx="169985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16" name="形状 16"/>
          <p:cNvSpPr/>
          <p:nvPr/>
        </p:nvSpPr>
        <p:spPr>
          <a:xfrm>
            <a:off x="3758712" y="1688993"/>
            <a:ext cx="2018567" cy="297375"/>
          </a:xfrm>
          <a:prstGeom prst="roundRect">
            <a:avLst>
              <a:gd name="adj" fmla="val 25008"/>
            </a:avLst>
          </a:prstGeom>
          <a:solidFill>
            <a:srgbClr val="DBEAFE">
              <a:alpha val="100000"/>
            </a:srgbClr>
          </a:solidFill>
          <a:ln w="12749">
            <a:solidFill>
              <a:srgbClr val="2563EB">
                <a:alpha val="100000"/>
              </a:srgbClr>
            </a:solidFill>
            <a:prstDash val="solid"/>
          </a:ln>
        </p:spPr>
      </p:sp>
      <p:sp>
        <p:nvSpPr>
          <p:cNvPr id="17" name="文字 17"/>
          <p:cNvSpPr txBox="1"/>
          <p:nvPr/>
        </p:nvSpPr>
        <p:spPr>
          <a:xfrm>
            <a:off x="4312990" y="1815855"/>
            <a:ext cx="922711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建造：编码岗 ∥ 质检岗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823536" y="2027575"/>
            <a:ext cx="1901619" cy="10323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02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G3 口径对账 · G4 执行预检——拦口径漂移 · 静默错位</a:t>
            </a:r>
            <a:endParaRPr/>
          </a:p>
        </p:txBody>
      </p:sp>
      <p:cxnSp>
        <p:nvCxnSpPr>
          <p:cNvPr id="19" name="直线 19"/>
          <p:cNvCxnSpPr/>
          <p:nvPr/>
        </p:nvCxnSpPr>
        <p:spPr>
          <a:xfrm>
            <a:off x="5798527" y="1837680"/>
            <a:ext cx="169985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20" name="形状 20"/>
          <p:cNvSpPr/>
          <p:nvPr/>
        </p:nvSpPr>
        <p:spPr>
          <a:xfrm>
            <a:off x="6011008" y="1688993"/>
            <a:ext cx="1274885" cy="297375"/>
          </a:xfrm>
          <a:prstGeom prst="roundRect">
            <a:avLst>
              <a:gd name="adj" fmla="val 25008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21" name="文字 21"/>
          <p:cNvSpPr txBox="1"/>
          <p:nvPr/>
        </p:nvSpPr>
        <p:spPr>
          <a:xfrm>
            <a:off x="6331093" y="1815855"/>
            <a:ext cx="647415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DDL · 调度配置</a:t>
            </a:r>
            <a:endParaRPr/>
          </a:p>
        </p:txBody>
      </p:sp>
      <p:cxnSp>
        <p:nvCxnSpPr>
          <p:cNvPr id="22" name="直线 22"/>
          <p:cNvCxnSpPr/>
          <p:nvPr/>
        </p:nvCxnSpPr>
        <p:spPr>
          <a:xfrm>
            <a:off x="7307140" y="1837680"/>
            <a:ext cx="180609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23" name="形状 23"/>
          <p:cNvSpPr/>
          <p:nvPr/>
        </p:nvSpPr>
        <p:spPr>
          <a:xfrm>
            <a:off x="7530245" y="1688993"/>
            <a:ext cx="1009284" cy="297375"/>
          </a:xfrm>
          <a:prstGeom prst="roundRect">
            <a:avLst>
              <a:gd name="adj" fmla="val 25008"/>
            </a:avLst>
          </a:prstGeom>
          <a:solidFill>
            <a:srgbClr val="EFF6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solid"/>
          </a:ln>
        </p:spPr>
      </p:sp>
      <p:sp>
        <p:nvSpPr>
          <p:cNvPr id="24" name="文字 24"/>
          <p:cNvSpPr txBox="1"/>
          <p:nvPr/>
        </p:nvSpPr>
        <p:spPr>
          <a:xfrm>
            <a:off x="7793739" y="1815855"/>
            <a:ext cx="484371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自测（UT）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812297" y="2027575"/>
            <a:ext cx="447257" cy="10323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02" b="0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G5 数据实测</a:t>
            </a:r>
            <a:endParaRPr/>
          </a:p>
        </p:txBody>
      </p:sp>
      <p:cxnSp>
        <p:nvCxnSpPr>
          <p:cNvPr id="26" name="直线 26"/>
          <p:cNvCxnSpPr/>
          <p:nvPr/>
        </p:nvCxnSpPr>
        <p:spPr>
          <a:xfrm>
            <a:off x="8560777" y="1837680"/>
            <a:ext cx="169985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27" name="形状 27"/>
          <p:cNvSpPr/>
          <p:nvPr/>
        </p:nvSpPr>
        <p:spPr>
          <a:xfrm>
            <a:off x="8773258" y="1688993"/>
            <a:ext cx="2337288" cy="297375"/>
          </a:xfrm>
          <a:prstGeom prst="roundRect">
            <a:avLst>
              <a:gd name="adj" fmla="val 25008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93C5FD">
                <a:alpha val="100000"/>
              </a:srgbClr>
            </a:solidFill>
            <a:prstDash val="dash"/>
          </a:ln>
        </p:spPr>
      </p:sp>
      <p:sp>
        <p:nvSpPr>
          <p:cNvPr id="28" name="文字 28"/>
          <p:cNvSpPr txBox="1"/>
          <p:nvPr/>
        </p:nvSpPr>
        <p:spPr>
          <a:xfrm>
            <a:off x="9383462" y="1815855"/>
            <a:ext cx="1129580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失败 ↓ 分流判定树（下方）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3227510" y="2187574"/>
            <a:ext cx="718135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识别特征（举例）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6096000" y="2187574"/>
            <a:ext cx="644593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自治级别 · 去向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8135815" y="2187574"/>
            <a:ext cx="629956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限位（防过度）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890221" y="3260832"/>
            <a:ext cx="1593606" cy="1062054"/>
          </a:xfrm>
          <a:prstGeom prst="roundRect">
            <a:avLst>
              <a:gd name="adj" fmla="val 10003"/>
            </a:avLst>
          </a:prstGeom>
          <a:gradFill>
            <a:gsLst>
              <a:gs pos="0">
                <a:srgbClr val="DBEAFE"/>
              </a:gs>
              <a:gs pos="100000">
                <a:srgbClr val="93C5FD"/>
              </a:gs>
            </a:gsLst>
            <a:lin ang="5400000" scaled="1"/>
          </a:gradFill>
          <a:ln w="21248">
            <a:solidFill>
              <a:srgbClr val="2563EB">
                <a:alpha val="100000"/>
              </a:srgbClr>
            </a:solidFill>
            <a:prstDash val="solid"/>
          </a:ln>
        </p:spPr>
      </p:sp>
      <p:sp>
        <p:nvSpPr>
          <p:cNvPr id="33" name="文字 33"/>
          <p:cNvSpPr txBox="1"/>
          <p:nvPr/>
        </p:nvSpPr>
        <p:spPr>
          <a:xfrm>
            <a:off x="1389551" y="3478341"/>
            <a:ext cx="607646" cy="1605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失败已定位</a:t>
            </a:r>
            <a:endParaRPr/>
          </a:p>
        </p:txBody>
      </p:sp>
      <p:cxnSp>
        <p:nvCxnSpPr>
          <p:cNvPr id="34" name="直线 34"/>
          <p:cNvCxnSpPr/>
          <p:nvPr/>
        </p:nvCxnSpPr>
        <p:spPr>
          <a:xfrm>
            <a:off x="1081454" y="3706895"/>
            <a:ext cx="1211140" cy="0"/>
          </a:xfrm>
          <a:prstGeom prst="line">
            <a:avLst/>
          </a:prstGeom>
          <a:ln w="10624">
            <a:solidFill>
              <a:srgbClr val="93C5FD">
                <a:alpha val="100000"/>
              </a:srgbClr>
            </a:solidFill>
            <a:prstDash val="solid"/>
          </a:ln>
        </p:spPr>
      </p:cxnSp>
      <p:sp>
        <p:nvSpPr>
          <p:cNvPr id="35" name="文字 35"/>
          <p:cNvSpPr txBox="1"/>
          <p:nvPr/>
        </p:nvSpPr>
        <p:spPr>
          <a:xfrm>
            <a:off x="1347055" y="3825845"/>
            <a:ext cx="692638" cy="1147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69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按失败项类型分诊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347055" y="3995774"/>
            <a:ext cx="692638" cy="1147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69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不按报错原文找岗</a:t>
            </a:r>
            <a:endParaRPr/>
          </a:p>
        </p:txBody>
      </p:sp>
      <p:cxnSp>
        <p:nvCxnSpPr>
          <p:cNvPr id="37" name="直线 37"/>
          <p:cNvCxnSpPr/>
          <p:nvPr/>
        </p:nvCxnSpPr>
        <p:spPr>
          <a:xfrm flipV="1">
            <a:off x="2483827" y="2591738"/>
            <a:ext cx="701187" cy="1200121"/>
          </a:xfrm>
          <a:prstGeom prst="line">
            <a:avLst/>
          </a:prstGeom>
          <a:ln w="12749">
            <a:solidFill>
              <a:srgbClr val="CBD5E1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38" name="形状 38"/>
          <p:cNvSpPr/>
          <p:nvPr/>
        </p:nvSpPr>
        <p:spPr>
          <a:xfrm>
            <a:off x="3227510" y="2347466"/>
            <a:ext cx="2549769" cy="488545"/>
          </a:xfrm>
          <a:prstGeom prst="roundRect">
            <a:avLst>
              <a:gd name="adj" fmla="val 17397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39" name="文字 39"/>
          <p:cNvSpPr txBox="1"/>
          <p:nvPr/>
        </p:nvSpPr>
        <p:spPr>
          <a:xfrm>
            <a:off x="3354998" y="2448574"/>
            <a:ext cx="512972" cy="12617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36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SQL 语法类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3354998" y="2617812"/>
            <a:ext cx="1789095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报错含 COLUMN · TYPE · SYNTAX · 表不存在</a:t>
            </a:r>
            <a:endParaRPr/>
          </a:p>
        </p:txBody>
      </p:sp>
      <p:cxnSp>
        <p:nvCxnSpPr>
          <p:cNvPr id="41" name="直线 41"/>
          <p:cNvCxnSpPr/>
          <p:nvPr/>
        </p:nvCxnSpPr>
        <p:spPr>
          <a:xfrm>
            <a:off x="5777279" y="2443051"/>
            <a:ext cx="254977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42" name="形状 42"/>
          <p:cNvSpPr/>
          <p:nvPr/>
        </p:nvSpPr>
        <p:spPr>
          <a:xfrm>
            <a:off x="6096000" y="2347466"/>
            <a:ext cx="1806087" cy="488545"/>
          </a:xfrm>
          <a:prstGeom prst="roundRect">
            <a:avLst>
              <a:gd name="adj" fmla="val 17397"/>
            </a:avLst>
          </a:prstGeom>
          <a:gradFill>
            <a:gsLst>
              <a:gs pos="0">
                <a:srgbClr val="DBEAFE"/>
              </a:gs>
              <a:gs pos="100000">
                <a:srgbClr val="93C5FD"/>
              </a:gs>
            </a:gsLst>
            <a:lin ang="5400000" scaled="1"/>
          </a:gradFill>
          <a:ln w="19123">
            <a:solidFill>
              <a:srgbClr val="2563EB">
                <a:alpha val="100000"/>
              </a:srgbClr>
            </a:solidFill>
            <a:prstDash val="solid"/>
          </a:ln>
        </p:spPr>
      </p:sp>
      <p:sp>
        <p:nvSpPr>
          <p:cNvPr id="43" name="文字 43"/>
          <p:cNvSpPr txBox="1"/>
          <p:nvPr/>
        </p:nvSpPr>
        <p:spPr>
          <a:xfrm>
            <a:off x="6641604" y="2443157"/>
            <a:ext cx="727578" cy="13477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6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自动修 · 编码岗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549115" y="2617812"/>
            <a:ext cx="912556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恢复旧会话修复，不新开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8135815" y="2453087"/>
            <a:ext cx="795997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≤3 轮 · 修完必重验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8135815" y="2617812"/>
            <a:ext cx="912556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重走执行预检＋数据实测</a:t>
            </a:r>
            <a:endParaRPr/>
          </a:p>
        </p:txBody>
      </p:sp>
      <p:cxnSp>
        <p:nvCxnSpPr>
          <p:cNvPr id="47" name="直线 47"/>
          <p:cNvCxnSpPr/>
          <p:nvPr/>
        </p:nvCxnSpPr>
        <p:spPr>
          <a:xfrm flipV="1">
            <a:off x="2483827" y="3260832"/>
            <a:ext cx="701187" cy="531027"/>
          </a:xfrm>
          <a:prstGeom prst="line">
            <a:avLst/>
          </a:prstGeom>
          <a:ln w="12749">
            <a:solidFill>
              <a:srgbClr val="CBD5E1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48" name="形状 48"/>
          <p:cNvSpPr/>
          <p:nvPr/>
        </p:nvSpPr>
        <p:spPr>
          <a:xfrm>
            <a:off x="3227510" y="3016560"/>
            <a:ext cx="2549769" cy="488545"/>
          </a:xfrm>
          <a:prstGeom prst="roundRect">
            <a:avLst>
              <a:gd name="adj" fmla="val 17397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49" name="文字 49"/>
          <p:cNvSpPr txBox="1"/>
          <p:nvPr/>
        </p:nvSpPr>
        <p:spPr>
          <a:xfrm>
            <a:off x="3354998" y="3117668"/>
            <a:ext cx="731088" cy="12617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36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质量检查 SQL 类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354998" y="3286906"/>
            <a:ext cx="1143163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检查 SQL 执行报错 · 文件缺失</a:t>
            </a:r>
            <a:endParaRPr/>
          </a:p>
        </p:txBody>
      </p:sp>
      <p:cxnSp>
        <p:nvCxnSpPr>
          <p:cNvPr id="51" name="直线 51"/>
          <p:cNvCxnSpPr/>
          <p:nvPr/>
        </p:nvCxnSpPr>
        <p:spPr>
          <a:xfrm>
            <a:off x="5777279" y="3133386"/>
            <a:ext cx="254977" cy="0"/>
          </a:xfrm>
          <a:prstGeom prst="line">
            <a:avLst/>
          </a:prstGeom>
          <a:ln w="15936">
            <a:solidFill>
              <a:srgbClr val="2563E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52" name="形状 52"/>
          <p:cNvSpPr/>
          <p:nvPr/>
        </p:nvSpPr>
        <p:spPr>
          <a:xfrm>
            <a:off x="6096000" y="3016560"/>
            <a:ext cx="1806087" cy="488545"/>
          </a:xfrm>
          <a:prstGeom prst="roundRect">
            <a:avLst>
              <a:gd name="adj" fmla="val 17397"/>
            </a:avLst>
          </a:prstGeom>
          <a:gradFill>
            <a:gsLst>
              <a:gs pos="0">
                <a:srgbClr val="DBEAFE"/>
              </a:gs>
              <a:gs pos="100000">
                <a:srgbClr val="93C5FD"/>
              </a:gs>
            </a:gsLst>
            <a:lin ang="5400000" scaled="1"/>
          </a:gradFill>
          <a:ln w="19123">
            <a:solidFill>
              <a:srgbClr val="2563EB">
                <a:alpha val="100000"/>
              </a:srgbClr>
            </a:solidFill>
            <a:prstDash val="solid"/>
          </a:ln>
        </p:spPr>
      </p:sp>
      <p:sp>
        <p:nvSpPr>
          <p:cNvPr id="53" name="文字 53"/>
          <p:cNvSpPr txBox="1"/>
          <p:nvPr/>
        </p:nvSpPr>
        <p:spPr>
          <a:xfrm>
            <a:off x="6641604" y="3112251"/>
            <a:ext cx="727578" cy="13477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6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自动修 · 质检岗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6712726" y="3286906"/>
            <a:ext cx="585335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恢复旧会话修复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135815" y="3122181"/>
            <a:ext cx="884176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只重跑质检段 · ≤3 轮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8135815" y="3286906"/>
            <a:ext cx="830751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检查与修复合一短会话</a:t>
            </a:r>
            <a:endParaRPr/>
          </a:p>
        </p:txBody>
      </p:sp>
      <p:cxnSp>
        <p:nvCxnSpPr>
          <p:cNvPr id="57" name="直线 57"/>
          <p:cNvCxnSpPr/>
          <p:nvPr/>
        </p:nvCxnSpPr>
        <p:spPr>
          <a:xfrm>
            <a:off x="2483827" y="3791860"/>
            <a:ext cx="701187" cy="138067"/>
          </a:xfrm>
          <a:prstGeom prst="line">
            <a:avLst/>
          </a:prstGeom>
          <a:ln w="12749">
            <a:solidFill>
              <a:srgbClr val="CBD5E1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58" name="形状 58"/>
          <p:cNvSpPr/>
          <p:nvPr/>
        </p:nvSpPr>
        <p:spPr>
          <a:xfrm>
            <a:off x="3227510" y="3685654"/>
            <a:ext cx="2549769" cy="488545"/>
          </a:xfrm>
          <a:prstGeom prst="roundRect">
            <a:avLst>
              <a:gd name="adj" fmla="val 17397"/>
            </a:avLst>
          </a:prstGeom>
          <a:solidFill>
            <a:srgbClr val="FEF2F2">
              <a:alpha val="100000"/>
            </a:srgbClr>
          </a:solidFill>
          <a:ln w="14874">
            <a:solidFill>
              <a:srgbClr val="FECACA">
                <a:alpha val="100000"/>
              </a:srgbClr>
            </a:solidFill>
            <a:prstDash val="solid"/>
          </a:ln>
        </p:spPr>
      </p:sp>
      <p:sp>
        <p:nvSpPr>
          <p:cNvPr id="59" name="文字 59"/>
          <p:cNvSpPr txBox="1"/>
          <p:nvPr/>
        </p:nvSpPr>
        <p:spPr>
          <a:xfrm>
            <a:off x="3354998" y="3786762"/>
            <a:ext cx="386666" cy="12617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36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数据质量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3354998" y="3956000"/>
            <a:ext cx="1021519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主键重复 · 空值 · 行数异常</a:t>
            </a:r>
            <a:endParaRPr/>
          </a:p>
        </p:txBody>
      </p:sp>
      <p:cxnSp>
        <p:nvCxnSpPr>
          <p:cNvPr id="61" name="直线 61"/>
          <p:cNvCxnSpPr/>
          <p:nvPr/>
        </p:nvCxnSpPr>
        <p:spPr>
          <a:xfrm>
            <a:off x="5777279" y="3823721"/>
            <a:ext cx="254977" cy="0"/>
          </a:xfrm>
          <a:prstGeom prst="line">
            <a:avLst/>
          </a:prstGeom>
          <a:ln w="15936">
            <a:solidFill>
              <a:srgbClr val="EF4444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62" name="形状 62"/>
          <p:cNvSpPr/>
          <p:nvPr/>
        </p:nvSpPr>
        <p:spPr>
          <a:xfrm>
            <a:off x="6096000" y="3685654"/>
            <a:ext cx="1806087" cy="488545"/>
          </a:xfrm>
          <a:prstGeom prst="roundRect">
            <a:avLst>
              <a:gd name="adj" fmla="val 17397"/>
            </a:avLst>
          </a:prstGeom>
          <a:solidFill>
            <a:srgbClr val="FEF2F2">
              <a:alpha val="100000"/>
            </a:srgbClr>
          </a:solidFill>
          <a:ln w="19123">
            <a:solidFill>
              <a:srgbClr val="EF4444">
                <a:alpha val="100000"/>
              </a:srgbClr>
            </a:solidFill>
            <a:prstDash val="solid"/>
          </a:ln>
        </p:spPr>
      </p:sp>
      <p:sp>
        <p:nvSpPr>
          <p:cNvPr id="63" name="文字 63"/>
          <p:cNvSpPr txBox="1"/>
          <p:nvPr/>
        </p:nvSpPr>
        <p:spPr>
          <a:xfrm>
            <a:off x="6655872" y="3781345"/>
            <a:ext cx="699042" cy="13477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6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⛔ AI 无权自愈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6671823" y="3956000"/>
            <a:ext cx="667141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带依据包退设计岗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35815" y="3791275"/>
            <a:ext cx="894494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改完必回人工设计确认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35815" y="3956000"/>
            <a:ext cx="2289580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绝不回编码岗（见下）· 依据包：失败项＋样例＋诊断＋原声明</a:t>
            </a:r>
            <a:endParaRPr/>
          </a:p>
        </p:txBody>
      </p:sp>
      <p:cxnSp>
        <p:nvCxnSpPr>
          <p:cNvPr id="67" name="直线 67"/>
          <p:cNvCxnSpPr/>
          <p:nvPr/>
        </p:nvCxnSpPr>
        <p:spPr>
          <a:xfrm>
            <a:off x="2483827" y="3791860"/>
            <a:ext cx="701187" cy="807161"/>
          </a:xfrm>
          <a:prstGeom prst="line">
            <a:avLst/>
          </a:prstGeom>
          <a:ln w="12749">
            <a:solidFill>
              <a:srgbClr val="CBD5E1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68" name="形状 68"/>
          <p:cNvSpPr/>
          <p:nvPr/>
        </p:nvSpPr>
        <p:spPr>
          <a:xfrm>
            <a:off x="3227510" y="4354748"/>
            <a:ext cx="2549769" cy="488545"/>
          </a:xfrm>
          <a:prstGeom prst="roundRect">
            <a:avLst>
              <a:gd name="adj" fmla="val 17397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69" name="文字 69"/>
          <p:cNvSpPr txBox="1"/>
          <p:nvPr/>
        </p:nvSpPr>
        <p:spPr>
          <a:xfrm>
            <a:off x="3354998" y="4455856"/>
            <a:ext cx="1159465" cy="12617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36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质检告警（含对比式 0 行）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54998" y="4625094"/>
            <a:ext cx="2142249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违规非 0 行带样例；对比式 0 行＝通过/失效两义，需人判</a:t>
            </a:r>
            <a:endParaRPr/>
          </a:p>
        </p:txBody>
      </p:sp>
      <p:cxnSp>
        <p:nvCxnSpPr>
          <p:cNvPr id="71" name="直线 71"/>
          <p:cNvCxnSpPr/>
          <p:nvPr/>
        </p:nvCxnSpPr>
        <p:spPr>
          <a:xfrm>
            <a:off x="5777279" y="4514056"/>
            <a:ext cx="254977" cy="0"/>
          </a:xfrm>
          <a:prstGeom prst="line">
            <a:avLst/>
          </a:prstGeom>
          <a:ln w="15936">
            <a:solidFill>
              <a:srgbClr val="F59E0B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72" name="形状 72"/>
          <p:cNvSpPr/>
          <p:nvPr/>
        </p:nvSpPr>
        <p:spPr>
          <a:xfrm>
            <a:off x="6096000" y="4354748"/>
            <a:ext cx="1806087" cy="488545"/>
          </a:xfrm>
          <a:prstGeom prst="roundRect">
            <a:avLst>
              <a:gd name="adj" fmla="val 17397"/>
            </a:avLst>
          </a:prstGeom>
          <a:gradFill>
            <a:gsLst>
              <a:gs pos="0">
                <a:srgbClr val="FEF3C7"/>
              </a:gs>
              <a:gs pos="100000">
                <a:srgbClr val="FDE68A"/>
              </a:gs>
            </a:gsLst>
            <a:lin ang="5400000" scaled="1"/>
          </a:gradFill>
          <a:ln w="19123">
            <a:solidFill>
              <a:srgbClr val="F59E0B">
                <a:alpha val="100000"/>
              </a:srgbClr>
            </a:solidFill>
            <a:prstDash val="dash"/>
          </a:ln>
        </p:spPr>
      </p:sp>
      <p:sp>
        <p:nvSpPr>
          <p:cNvPr id="73" name="文字 73"/>
          <p:cNvSpPr txBox="1"/>
          <p:nvPr/>
        </p:nvSpPr>
        <p:spPr>
          <a:xfrm>
            <a:off x="6591724" y="4450439"/>
            <a:ext cx="827338" cy="13477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6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人判 · 零自动回路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876336" y="4625094"/>
            <a:ext cx="258115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三选一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135815" y="4460369"/>
            <a:ext cx="1526387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回改→质检岗 · 人定口径→质检岗照译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135815" y="4625094"/>
            <a:ext cx="1335160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数据真脏→豁免留痕 · 攒齐一次给人</a:t>
            </a:r>
            <a:endParaRPr/>
          </a:p>
        </p:txBody>
      </p:sp>
      <p:cxnSp>
        <p:nvCxnSpPr>
          <p:cNvPr id="77" name="直线 77"/>
          <p:cNvCxnSpPr/>
          <p:nvPr/>
        </p:nvCxnSpPr>
        <p:spPr>
          <a:xfrm>
            <a:off x="2483827" y="3791860"/>
            <a:ext cx="701187" cy="1476255"/>
          </a:xfrm>
          <a:prstGeom prst="line">
            <a:avLst/>
          </a:prstGeom>
          <a:ln w="12749">
            <a:solidFill>
              <a:srgbClr val="CBD5E1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78" name="形状 78"/>
          <p:cNvSpPr/>
          <p:nvPr/>
        </p:nvSpPr>
        <p:spPr>
          <a:xfrm>
            <a:off x="3227510" y="5023842"/>
            <a:ext cx="2549769" cy="488545"/>
          </a:xfrm>
          <a:prstGeom prst="roundRect">
            <a:avLst>
              <a:gd name="adj" fmla="val 17397"/>
            </a:avLst>
          </a:prstGeom>
          <a:solidFill>
            <a:srgbClr val="FFFFFF">
              <a:alpha val="100000"/>
            </a:srgbClr>
          </a:solidFill>
          <a:ln w="12749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79" name="文字 79"/>
          <p:cNvSpPr txBox="1"/>
          <p:nvPr/>
        </p:nvSpPr>
        <p:spPr>
          <a:xfrm>
            <a:off x="3354998" y="5124950"/>
            <a:ext cx="386666" cy="12617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36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环境问题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3354998" y="5294188"/>
            <a:ext cx="1198709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连接 · 权限 · 源表不存在 · 超时</a:t>
            </a:r>
            <a:endParaRPr/>
          </a:p>
        </p:txBody>
      </p:sp>
      <p:cxnSp>
        <p:nvCxnSpPr>
          <p:cNvPr id="81" name="直线 81"/>
          <p:cNvCxnSpPr/>
          <p:nvPr/>
        </p:nvCxnSpPr>
        <p:spPr>
          <a:xfrm>
            <a:off x="5777279" y="5204391"/>
            <a:ext cx="254977" cy="0"/>
          </a:xfrm>
          <a:prstGeom prst="line">
            <a:avLst/>
          </a:prstGeom>
          <a:ln w="15936">
            <a:solidFill>
              <a:srgbClr val="94A3B8">
                <a:alpha val="100000"/>
              </a:srgbClr>
            </a:solidFill>
            <a:prstDash val="solid"/>
            <a:tailEnd type="triangle" w="med" len="med"/>
          </a:ln>
        </p:spPr>
      </p:cxnSp>
      <p:sp>
        <p:nvSpPr>
          <p:cNvPr id="82" name="形状 82"/>
          <p:cNvSpPr/>
          <p:nvPr/>
        </p:nvSpPr>
        <p:spPr>
          <a:xfrm>
            <a:off x="6096000" y="5023842"/>
            <a:ext cx="1806087" cy="488545"/>
          </a:xfrm>
          <a:prstGeom prst="roundRect">
            <a:avLst>
              <a:gd name="adj" fmla="val 17397"/>
            </a:avLst>
          </a:prstGeom>
          <a:solidFill>
            <a:srgbClr val="F1F5F9">
              <a:alpha val="100000"/>
            </a:srgbClr>
          </a:solidFill>
          <a:ln w="15936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83" name="文字 83"/>
          <p:cNvSpPr txBox="1"/>
          <p:nvPr/>
        </p:nvSpPr>
        <p:spPr>
          <a:xfrm>
            <a:off x="6766304" y="5119533"/>
            <a:ext cx="478179" cy="13477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86" b="1" i="0" u="none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停 ＋ 报人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6794531" y="5294188"/>
            <a:ext cx="421725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附修复指引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135815" y="5129463"/>
            <a:ext cx="541776" cy="11900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4" b="1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不进自动回路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8135815" y="5294188"/>
            <a:ext cx="1076166" cy="11040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44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环境归人，修复后从探针重跑</a:t>
            </a:r>
            <a:endParaRPr/>
          </a:p>
        </p:txBody>
      </p:sp>
      <p:sp>
        <p:nvSpPr>
          <p:cNvPr id="87" name="形状 87"/>
          <p:cNvSpPr/>
          <p:nvPr/>
        </p:nvSpPr>
        <p:spPr>
          <a:xfrm>
            <a:off x="890221" y="5618592"/>
            <a:ext cx="10411558" cy="276134"/>
          </a:xfrm>
          <a:prstGeom prst="roundRect">
            <a:avLst>
              <a:gd name="adj" fmla="val 23085"/>
            </a:avLst>
          </a:prstGeom>
          <a:solidFill>
            <a:srgbClr val="FEE2E2">
              <a:alpha val="100000"/>
            </a:srgbClr>
          </a:solidFill>
          <a:ln w="14874">
            <a:solidFill>
              <a:srgbClr val="EF4444">
                <a:alpha val="100000"/>
              </a:srgbClr>
            </a:solidFill>
            <a:prstDash val="solid"/>
          </a:ln>
        </p:spPr>
      </p:sp>
      <p:sp>
        <p:nvSpPr>
          <p:cNvPr id="88" name="文字 88"/>
          <p:cNvSpPr txBox="1"/>
          <p:nvPr/>
        </p:nvSpPr>
        <p:spPr>
          <a:xfrm>
            <a:off x="1017710" y="5719700"/>
            <a:ext cx="7095421" cy="12617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36" b="1" i="0" u="none">
                <a:solidFill>
                  <a:srgbClr val="991B1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为什么数据质量绝不给编码岗修：去重技巧（ROW_NUMBER）能「消掉」报错，却掩盖根因（关联发散 / 关联键选错）反而丢数据——根因在设计层，AI 修不了只能上交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890221" y="6022173"/>
            <a:ext cx="10411558" cy="339857"/>
          </a:xfrm>
          <a:prstGeom prst="roundRect">
            <a:avLst>
              <a:gd name="adj" fmla="val 21882"/>
            </a:avLst>
          </a:prstGeom>
          <a:solidFill>
            <a:srgbClr val="1E293B">
              <a:alpha val="100000"/>
            </a:srgbClr>
          </a:solidFill>
          <a:ln>
            <a:noFill/>
          </a:ln>
        </p:spPr>
      </p:sp>
      <p:sp>
        <p:nvSpPr>
          <p:cNvPr id="90" name="文字 90"/>
          <p:cNvSpPr txBox="1"/>
          <p:nvPr/>
        </p:nvSpPr>
        <p:spPr>
          <a:xfrm>
            <a:off x="2023293" y="6149513"/>
            <a:ext cx="8158115" cy="15198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6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自治是设计出来的权限：触发条件 · 动作边界 · 停止条件三齐全才自动——防过度靠结构限位（轮次上限 / 职责白名单 / 变更必回确认 / 告警零迭代），不靠提示词</a:t>
            </a:r>
            <a:endParaRPr/>
          </a:p>
        </p:txBody>
      </p:sp>
      <p:sp>
        <p:nvSpPr>
          <p:cNvPr id="91" name="形状 91"/>
          <p:cNvSpPr/>
          <p:nvPr/>
        </p:nvSpPr>
        <p:spPr>
          <a:xfrm>
            <a:off x="11023600" y="558800"/>
            <a:ext cx="165100" cy="63500"/>
          </a:xfrm>
          <a:prstGeom prst="roundRect">
            <a:avLst>
              <a:gd name="adj" fmla="val 20000"/>
            </a:avLst>
          </a:prstGeom>
          <a:solidFill>
            <a:srgbClr val="2563EB">
              <a:alpha val="100000"/>
            </a:srgbClr>
          </a:solidFill>
          <a:ln>
            <a:noFill/>
          </a:ln>
        </p:spPr>
      </p:sp>
      <p:sp>
        <p:nvSpPr>
          <p:cNvPr id="92" name="形状 92"/>
          <p:cNvSpPr/>
          <p:nvPr/>
        </p:nvSpPr>
        <p:spPr>
          <a:xfrm>
            <a:off x="11233150" y="501650"/>
            <a:ext cx="165100" cy="120650"/>
          </a:xfrm>
          <a:prstGeom prst="roundRect">
            <a:avLst>
              <a:gd name="adj" fmla="val 10526"/>
            </a:avLst>
          </a:prstGeom>
          <a:solidFill>
            <a:srgbClr val="2563EB">
              <a:alpha val="100000"/>
            </a:srgbClr>
          </a:solidFill>
          <a:ln>
            <a:noFill/>
          </a:ln>
        </p:spPr>
      </p:sp>
      <p:sp>
        <p:nvSpPr>
          <p:cNvPr id="93" name="形状 93"/>
          <p:cNvSpPr/>
          <p:nvPr/>
        </p:nvSpPr>
        <p:spPr>
          <a:xfrm>
            <a:off x="11442700" y="431800"/>
            <a:ext cx="165100" cy="190500"/>
          </a:xfrm>
          <a:prstGeom prst="roundRect">
            <a:avLst>
              <a:gd name="adj" fmla="val 7692"/>
            </a:avLst>
          </a:prstGeom>
          <a:solidFill>
            <a:srgbClr val="E2E8F0">
              <a:alpha val="100000"/>
            </a:srgbClr>
          </a:solidFill>
          <a:ln w="6350">
            <a:solidFill>
              <a:srgbClr val="CBD5E1">
                <a:alpha val="10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第 5 页"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文字 4"/>
          <p:cNvSpPr txBox="1"/>
          <p:nvPr/>
        </p:nvSpPr>
        <p:spPr>
          <a:xfrm>
            <a:off x="571500" y="311150"/>
            <a:ext cx="128279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200">
                <a:solidFill>
                  <a:srgbClr val="2563EB">
                    <a:alpha val="100000"/>
                  </a:srgbClr>
                </a:solidFill>
                <a:latin typeface="Courier New"/>
                <a:ea typeface="Courier New"/>
                <a:cs typeface="Courier New"/>
              </a:rPr>
              <a:t xml:space="preserve">04 / 实效与边界</a:t>
            </a:r>
            <a:endParaRPr/>
          </a:p>
        </p:txBody>
      </p:sp>
      <p:sp>
        <p:nvSpPr>
          <p:cNvPr id="5" name="文字 5"/>
          <p:cNvSpPr txBox="1"/>
          <p:nvPr/>
        </p:nvSpPr>
        <p:spPr>
          <a:xfrm>
            <a:off x="571500" y="508000"/>
            <a:ext cx="4090392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一周多的活，1~2 天交付——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649192" y="508000"/>
            <a:ext cx="2870200" cy="444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spc="0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且清楚哪些还是人的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71500" y="946150"/>
            <a:ext cx="50419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提效的来源、防线自己的质量底座、还没验证的部分——这一页一并交代。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890221" y="1374468"/>
            <a:ext cx="2164690" cy="17626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28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交付周期对比（内部口径 · 试点观察）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890221" y="1662599"/>
            <a:ext cx="627818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过去 · 全人工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890221" y="1817398"/>
            <a:ext cx="10411558" cy="331949"/>
          </a:xfrm>
          <a:prstGeom prst="roundRect">
            <a:avLst>
              <a:gd name="adj" fmla="val 19203"/>
            </a:avLst>
          </a:prstGeom>
          <a:solidFill>
            <a:srgbClr val="E2E8F0">
              <a:alpha val="100000"/>
            </a:srgbClr>
          </a:solidFill>
          <a:ln w="10624">
            <a:solidFill>
              <a:srgbClr val="CBD5E1">
                <a:alpha val="100000"/>
              </a:srgbClr>
            </a:solidFill>
            <a:prstDash val="solid"/>
          </a:ln>
        </p:spPr>
      </p:sp>
      <p:sp>
        <p:nvSpPr>
          <p:cNvPr id="11" name="文字 11"/>
          <p:cNvSpPr txBox="1"/>
          <p:nvPr/>
        </p:nvSpPr>
        <p:spPr>
          <a:xfrm>
            <a:off x="4320412" y="1944866"/>
            <a:ext cx="3563877" cy="13145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7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一周多：设计文档 · 逐字段加工 SQL · 自测 · 质量检查 · 调度配置——全程人工在场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890221" y="2260107"/>
            <a:ext cx="939467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现在 · Agent 流水线</a:t>
            </a:r>
            <a:endParaRPr/>
          </a:p>
        </p:txBody>
      </p:sp>
      <p:sp>
        <p:nvSpPr>
          <p:cNvPr id="13" name="形状 13"/>
          <p:cNvSpPr/>
          <p:nvPr/>
        </p:nvSpPr>
        <p:spPr>
          <a:xfrm>
            <a:off x="890221" y="2414906"/>
            <a:ext cx="2974731" cy="331949"/>
          </a:xfrm>
          <a:prstGeom prst="roundRect">
            <a:avLst>
              <a:gd name="adj" fmla="val 19203"/>
            </a:avLst>
          </a:prstGeom>
          <a:gradFill>
            <a:gsLst>
              <a:gs pos="0">
                <a:srgbClr val="2563EB"/>
              </a:gs>
              <a:gs pos="100000">
                <a:srgbClr val="1E3A8A"/>
              </a:gs>
            </a:gsLst>
            <a:lin ang="5400000" scaled="1"/>
          </a:gradFill>
          <a:ln>
            <a:noFill/>
          </a:ln>
        </p:spPr>
      </p:sp>
      <p:sp>
        <p:nvSpPr>
          <p:cNvPr id="14" name="文字 14"/>
          <p:cNvSpPr txBox="1"/>
          <p:nvPr/>
        </p:nvSpPr>
        <p:spPr>
          <a:xfrm>
            <a:off x="1986379" y="2536731"/>
            <a:ext cx="795115" cy="14041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1~2 天（端到端）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992440" y="2469622"/>
            <a:ext cx="2939109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64748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机器产出 ≤1 小时；其余＝需求口径对接 · 开发评审 · 测试等人机协作环节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992440" y="2619110"/>
            <a:ext cx="2548657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质量的活没少干：校验、实测、确认一件不少——是机器把它们做掉了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9764743" y="2259001"/>
            <a:ext cx="1174445" cy="52879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3084" b="1" i="0" u="none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≈3~5×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9860629" y="2690921"/>
            <a:ext cx="982673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端到端提效（按周折算）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890221" y="3034212"/>
            <a:ext cx="1642426" cy="17626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28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快而不糙：拦截前移的经济学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1208942" y="3897610"/>
            <a:ext cx="849923" cy="575378"/>
          </a:xfrm>
          <a:prstGeom prst="roundRect">
            <a:avLst>
              <a:gd name="adj" fmla="val 11079"/>
            </a:avLst>
          </a:prstGeom>
          <a:solidFill>
            <a:srgbClr val="93C5FD">
              <a:alpha val="100000"/>
            </a:srgbClr>
          </a:solidFill>
          <a:ln>
            <a:noFill/>
          </a:ln>
        </p:spPr>
      </p:sp>
      <p:sp>
        <p:nvSpPr>
          <p:cNvPr id="21" name="文字 21"/>
          <p:cNvSpPr txBox="1"/>
          <p:nvPr/>
        </p:nvSpPr>
        <p:spPr>
          <a:xfrm>
            <a:off x="1486953" y="4306405"/>
            <a:ext cx="306602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① 脚本</a:t>
            </a:r>
            <a:endParaRPr/>
          </a:p>
        </p:txBody>
      </p:sp>
      <p:sp>
        <p:nvSpPr>
          <p:cNvPr id="22" name="形状 22"/>
          <p:cNvSpPr/>
          <p:nvPr/>
        </p:nvSpPr>
        <p:spPr>
          <a:xfrm>
            <a:off x="2165106" y="3543532"/>
            <a:ext cx="849923" cy="929456"/>
          </a:xfrm>
          <a:prstGeom prst="roundRect">
            <a:avLst>
              <a:gd name="adj" fmla="val 7500"/>
            </a:avLst>
          </a:prstGeom>
          <a:solidFill>
            <a:srgbClr val="3B82F6">
              <a:alpha val="100000"/>
            </a:srgbClr>
          </a:solidFill>
          <a:ln>
            <a:noFill/>
          </a:ln>
        </p:spPr>
      </p:sp>
      <p:sp>
        <p:nvSpPr>
          <p:cNvPr id="23" name="文字 23"/>
          <p:cNvSpPr txBox="1"/>
          <p:nvPr/>
        </p:nvSpPr>
        <p:spPr>
          <a:xfrm>
            <a:off x="2443116" y="4306405"/>
            <a:ext cx="306602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② 自治</a:t>
            </a:r>
            <a:endParaRPr/>
          </a:p>
        </p:txBody>
      </p:sp>
      <p:sp>
        <p:nvSpPr>
          <p:cNvPr id="24" name="形状 24"/>
          <p:cNvSpPr/>
          <p:nvPr/>
        </p:nvSpPr>
        <p:spPr>
          <a:xfrm>
            <a:off x="3121269" y="3189453"/>
            <a:ext cx="849923" cy="1283535"/>
          </a:xfrm>
          <a:prstGeom prst="roundRect">
            <a:avLst>
              <a:gd name="adj" fmla="val 7500"/>
            </a:avLst>
          </a:prstGeom>
          <a:solidFill>
            <a:srgbClr val="1D4ED8">
              <a:alpha val="100000"/>
            </a:srgbClr>
          </a:solidFill>
          <a:ln>
            <a:noFill/>
          </a:ln>
        </p:spPr>
      </p:sp>
      <p:sp>
        <p:nvSpPr>
          <p:cNvPr id="25" name="文字 25"/>
          <p:cNvSpPr txBox="1"/>
          <p:nvPr/>
        </p:nvSpPr>
        <p:spPr>
          <a:xfrm>
            <a:off x="3399280" y="4306405"/>
            <a:ext cx="306602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③ 人闸</a:t>
            </a:r>
            <a:endParaRPr/>
          </a:p>
        </p:txBody>
      </p:sp>
      <p:cxnSp>
        <p:nvCxnSpPr>
          <p:cNvPr id="26" name="直线 26"/>
          <p:cNvCxnSpPr/>
          <p:nvPr/>
        </p:nvCxnSpPr>
        <p:spPr>
          <a:xfrm>
            <a:off x="1633904" y="4472988"/>
            <a:ext cx="2337288" cy="0"/>
          </a:xfrm>
          <a:prstGeom prst="line">
            <a:avLst/>
          </a:prstGeom>
          <a:ln w="10624">
            <a:solidFill>
              <a:srgbClr val="CBD5E1">
                <a:alpha val="100000"/>
              </a:srgbClr>
            </a:solidFill>
            <a:prstDash val="solid"/>
          </a:ln>
        </p:spPr>
      </p:cxnSp>
      <p:sp>
        <p:nvSpPr>
          <p:cNvPr id="27" name="文字 27"/>
          <p:cNvSpPr txBox="1"/>
          <p:nvPr/>
        </p:nvSpPr>
        <p:spPr>
          <a:xfrm>
            <a:off x="2025400" y="4555477"/>
            <a:ext cx="1566996" cy="11502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1" b="0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受理范围与能力递进（同「总纲」页阶梯）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2484890" y="2956480"/>
            <a:ext cx="541776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1" i="0" u="none">
                <a:solidFill>
                  <a:srgbClr val="1D4ED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拦截尽量前移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236793" y="3438636"/>
            <a:ext cx="1415071" cy="13145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7" b="1" i="0" u="none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绝大多数问题死在最便宜的防线①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236793" y="3642508"/>
            <a:ext cx="982673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返工不外流、停等最少；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236793" y="3819547"/>
            <a:ext cx="1335391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人的停等时间只花在语义终裁——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236793" y="3996586"/>
            <a:ext cx="1159032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这是「又快又稳」的根本来源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5139837" y="3311057"/>
            <a:ext cx="1645613" cy="15834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24" b="1" i="0" u="none">
                <a:solidFill>
                  <a:srgbClr val="1E293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防线自身的质量底座（全实测）：</a:t>
            </a:r>
            <a:endParaRPr/>
          </a:p>
        </p:txBody>
      </p:sp>
      <p:cxnSp>
        <p:nvCxnSpPr>
          <p:cNvPr id="34" name="直线 34"/>
          <p:cNvCxnSpPr/>
          <p:nvPr/>
        </p:nvCxnSpPr>
        <p:spPr>
          <a:xfrm>
            <a:off x="7073412" y="3565661"/>
            <a:ext cx="0" cy="752417"/>
          </a:xfrm>
          <a:prstGeom prst="line">
            <a:avLst/>
          </a:prstGeom>
          <a:ln w="12749">
            <a:solidFill>
              <a:srgbClr val="E2E8F0">
                <a:alpha val="100000"/>
              </a:srgbClr>
            </a:solidFill>
            <a:prstDash val="solid"/>
          </a:ln>
        </p:spPr>
      </p:cxnSp>
      <p:cxnSp>
        <p:nvCxnSpPr>
          <p:cNvPr id="35" name="直线 35"/>
          <p:cNvCxnSpPr/>
          <p:nvPr/>
        </p:nvCxnSpPr>
        <p:spPr>
          <a:xfrm>
            <a:off x="9410700" y="3565661"/>
            <a:ext cx="0" cy="752417"/>
          </a:xfrm>
          <a:prstGeom prst="line">
            <a:avLst/>
          </a:prstGeom>
          <a:ln w="12749">
            <a:solidFill>
              <a:srgbClr val="E2E8F0">
                <a:alpha val="100000"/>
              </a:srgbClr>
            </a:solidFill>
            <a:prstDash val="solid"/>
          </a:ln>
        </p:spPr>
      </p:cxnSp>
      <p:sp>
        <p:nvSpPr>
          <p:cNvPr id="36" name="文字 36"/>
          <p:cNvSpPr txBox="1"/>
          <p:nvPr/>
        </p:nvSpPr>
        <p:spPr>
          <a:xfrm>
            <a:off x="5689258" y="3697445"/>
            <a:ext cx="826184" cy="52879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3084" b="1" i="0" u="none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1527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655103" y="4173626"/>
            <a:ext cx="894494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测试用例守护防线自身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8016401" y="3697445"/>
            <a:ext cx="464009" cy="52879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3084" b="1" i="0" u="none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54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7845249" y="4173626"/>
            <a:ext cx="806315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条设计校验拦结构错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0353690" y="3697445"/>
            <a:ext cx="464009" cy="52879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3084" b="1" i="0" u="none">
                <a:solidFill>
                  <a:srgbClr val="2563EB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53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0138447" y="4173626"/>
            <a:ext cx="894494" cy="123983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23" b="0" i="0" u="none">
                <a:solidFill>
                  <a:srgbClr val="475569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个确定性脚本贯穿全程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5139837" y="4442006"/>
            <a:ext cx="1627554" cy="1195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97" b="0" i="0" u="none">
                <a:solidFill>
                  <a:srgbClr val="94A3B8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机制不依赖个人经验——换人换资产可复现</a:t>
            </a:r>
            <a:endParaRPr/>
          </a:p>
        </p:txBody>
      </p:sp>
      <p:sp>
        <p:nvSpPr>
          <p:cNvPr id="43" name="形状 43"/>
          <p:cNvSpPr/>
          <p:nvPr/>
        </p:nvSpPr>
        <p:spPr>
          <a:xfrm>
            <a:off x="890221" y="4738547"/>
            <a:ext cx="10411558" cy="1062236"/>
          </a:xfrm>
          <a:prstGeom prst="roundRect">
            <a:avLst>
              <a:gd name="adj" fmla="val 8001"/>
            </a:avLst>
          </a:prstGeom>
          <a:solidFill>
            <a:srgbClr val="FFFBEB">
              <a:alpha val="100000"/>
            </a:srgbClr>
          </a:solidFill>
          <a:ln w="12749">
            <a:solidFill>
              <a:srgbClr val="FDE68A">
                <a:alpha val="100000"/>
              </a:srgbClr>
            </a:solidFill>
            <a:prstDash val="solid"/>
          </a:ln>
        </p:spPr>
      </p:sp>
      <p:sp>
        <p:nvSpPr>
          <p:cNvPr id="44" name="文字 44"/>
          <p:cNvSpPr txBox="1"/>
          <p:nvPr/>
        </p:nvSpPr>
        <p:spPr>
          <a:xfrm>
            <a:off x="1017710" y="4876638"/>
            <a:ext cx="2273495" cy="16730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76" b="1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诚实边界——哪些还是人的，哪些还没验证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1017710" y="5142639"/>
            <a:ext cx="4048256" cy="13145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· 语义与生产的终裁权始终在人：三条红线不变——语义判断不自主 · 推生产不自主 · 重写不自主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017710" y="5363938"/>
            <a:ext cx="4367622" cy="13145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· 周期数字为内部口径（试点观察），非严格对照实验；倍数按「一周多 ≈ 5~7 天 vs 端到端 1~2 天」折算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017710" y="5585238"/>
            <a:ext cx="2895321" cy="131452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7" b="0" i="0" u="none">
                <a:solidFill>
                  <a:srgbClr val="92400E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· 量化评测由平台按其规范独立执行、报告另附——不自己给自己打分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890221" y="5999952"/>
            <a:ext cx="10411558" cy="354079"/>
          </a:xfrm>
          <a:prstGeom prst="roundRect">
            <a:avLst>
              <a:gd name="adj" fmla="val 21003"/>
            </a:avLst>
          </a:prstGeom>
          <a:solidFill>
            <a:srgbClr val="1E293B">
              <a:alpha val="100000"/>
            </a:srgbClr>
          </a:solidFill>
          <a:ln>
            <a:noFill/>
          </a:ln>
        </p:spPr>
      </p:sp>
      <p:sp>
        <p:nvSpPr>
          <p:cNvPr id="49" name="文字 49"/>
          <p:cNvSpPr txBox="1"/>
          <p:nvPr/>
        </p:nvSpPr>
        <p:spPr>
          <a:xfrm>
            <a:off x="4215547" y="6121335"/>
            <a:ext cx="3773606" cy="17626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ctr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28" b="1" i="0" u="none">
                <a:solidFill>
                  <a:srgbClr val="FFFFFF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提效不是少把关——是把人从重做功里拿出来，时间还给口径与判断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第 6 页"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pic>
        <p:nvPicPr>
          <p:cNvPr id="4" name="slide-006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pic>
        <p:nvPicPr>
          <p:cNvPr id="5" name="slide-006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0"/>
            <a:ext cx="7620000" cy="6858000"/>
          </a:xfrm>
          <a:prstGeom prst="rect">
            <a:avLst/>
          </a:prstGeom>
        </p:spPr>
      </p:pic>
      <p:sp>
        <p:nvSpPr>
          <p:cNvPr id="6" name="文字 6"/>
          <p:cNvSpPr txBox="1"/>
          <p:nvPr/>
        </p:nvSpPr>
        <p:spPr>
          <a:xfrm>
            <a:off x="5937250" y="3213100"/>
            <a:ext cx="3178969" cy="857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spc="48">
                <a:solidFill>
                  <a:srgbClr val="16294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Thank You</a:t>
            </a:r>
            <a:endParaRPr/>
          </a:p>
        </p:txBody>
      </p:sp>
      <p:pic>
        <p:nvPicPr>
          <p:cNvPr id="7" name="slide-006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800" y="4089400"/>
            <a:ext cx="1422400" cy="196850"/>
          </a:xfrm>
          <a:prstGeom prst="rect">
            <a:avLst/>
          </a:prstGeom>
        </p:spPr>
      </p:pic>
      <p:sp>
        <p:nvSpPr>
          <p:cNvPr id="8" name="文字 8"/>
          <p:cNvSpPr txBox="1"/>
          <p:nvPr/>
        </p:nvSpPr>
        <p:spPr>
          <a:xfrm>
            <a:off x="5969000" y="4489450"/>
            <a:ext cx="10795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能算的让脚本算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7035800" y="4489450"/>
            <a:ext cx="2942927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——AI 生成、确定性脚本把关，不过不放行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969000" y="4778970"/>
            <a:ext cx="1018877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能修的让 AI 修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6975177" y="4778970"/>
            <a:ext cx="24511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——自治有边界，防过度靠结构限位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5969000" y="5068491"/>
            <a:ext cx="9271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E3A8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该裁的让人裁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6883400" y="5068491"/>
            <a:ext cx="27559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334155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——人守两个闸口，拿到的永远是选择题</a:t>
            </a:r>
            <a:endParaRPr/>
          </a:p>
        </p:txBody>
      </p:sp>
      <p:pic>
        <p:nvPicPr>
          <p:cNvPr id="14" name="slide-006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2478" y="6457950"/>
            <a:ext cx="834033" cy="234950"/>
          </a:xfrm>
          <a:prstGeom prst="rect">
            <a:avLst/>
          </a:prstGeom>
        </p:spPr>
      </p:pic>
      <p:sp>
        <p:nvSpPr>
          <p:cNvPr id="15" name="形状 15"/>
          <p:cNvSpPr/>
          <p:nvPr/>
        </p:nvSpPr>
        <p:spPr>
          <a:xfrm>
            <a:off x="11200011" y="6486525"/>
            <a:ext cx="6350" cy="177800"/>
          </a:xfrm>
          <a:prstGeom prst="rect">
            <a:avLst/>
          </a:prstGeom>
          <a:solidFill>
            <a:srgbClr val="B9C4D4">
              <a:alpha val="100000"/>
            </a:srgbClr>
          </a:solidFill>
          <a:ln>
            <a:noFill/>
          </a:ln>
        </p:spPr>
      </p:sp>
      <p:pic>
        <p:nvPicPr>
          <p:cNvPr id="16" name="slide-006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69861" y="6473825"/>
            <a:ext cx="249039" cy="20320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11582400" y="6477000"/>
            <a:ext cx="3429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100">
                <a:solidFill>
                  <a:srgbClr val="16294A">
                    <a:alpha val="100000"/>
                  </a:srgbClr>
                </a:solidFill>
                <a:latin typeface="PingFang SC"/>
                <a:ea typeface="PingFang SC"/>
                <a:cs typeface="PingFang SC"/>
              </a:rPr>
              <a:t xml:space="preserve">云山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