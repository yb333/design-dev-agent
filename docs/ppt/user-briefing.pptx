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开场：我们是端到端数据交付流程的中间一段。给两张文件，交付四件套+测试报告。今天主要讲新建场景。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责任者用颜色区分：绿=程序、蓝=AI、黄=人。人只在③⑦两处出手。下方四条是失败分流，先混个脸熟，第4页展开。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红线是给领导的定心丸：自主权被机制性收窄。第1条举例讲关联键实测，最有说服力。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本页是信任的核心：质检是确定性脚本不是另一个AI。ROW_NUMBER案例一定讲——这是设计原则的来源故事。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左侧按「给谁用」讲；右侧强调目录不用解释、看名字就懂。opt目录数=优化次数是个好记的点。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四张卡对应四个真实文件。可以现场翻开交付目录给持怀疑态度的人看原件。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模板随工具分发。强调：加工逻辑用人话写就行，翻译成表达式是智能体的活。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关键信息：人出手全是选择题；提问不答流程会停——没有秘密默认值，这是红线1的体现。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诚实披露栏尤其重要：UT零告警的边界讲清楚，避免日后被质疑虚假宣传。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收尾：数字收信任，三步给行动。留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ns0:sld xmlns:ns0="http://schemas.openxmlformats.org/presentationml/2006/main" xmlns:ns1="http://schemas.openxmlformats.org/drawingml/2006/main">
  <ns0:cSld name="Slide 1">
    <ns0:bg>
      <ns0:bgPr>
        <ns1:solidFill>
          <ns1:srgbClr val="0F172A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822960" y="914400"/>
            <ns1:ext cx="1051560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spc="300" kern="0" dirty="0">
                <ns1:solidFill>
                  <ns1:srgbClr val="60A5FA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数据交付智能体 · 设计开发段（DDLC 中游）· 用户宣讲</ns1:t>
            </ns1:r>
            <ns1:endParaRPr lang="en-US" sz="120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822960" y="1325880"/>
            <ns1:ext cx="10789920" cy="8686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4000" b="1" dirty="0">
                <ns1:solidFill>
                  <ns1:srgbClr val="FFFFFF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从两份文件，到</ns1:t>
            </ns1:r>
            <ns1:r>
              <ns1:rPr lang="en-US" sz="4000" b="1" dirty="0">
                <ns1:solidFill>
                  <ns1:srgbClr val="60A5FA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可上线的数仓资产</ns1:t>
            </ns1:r>
            <ns1:endParaRPr lang="en-US" sz="40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822960" y="2395728"/>
            <ns1:ext cx="10424160" cy="8686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spcAft>
                <ns1:spcPts val="600"/>
              </ns1:spcAft>
              <ns1:buNone/>
            </ns1:pPr>
            <ns1:r>
              <ns1:rPr lang="en-US" sz="1350" dirty="0">
                <ns1:solidFill>
                  <ns1:srgbClr val="CBD5E1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输入 RS（需求说明）+ mapping（字段映射），智能体连续完成设计、编码、测试，交付设计文档 + 四件套制品（建表 DDL / 术加 ETL / 调度任务 / DQ 检查）与测试报告。</ns1:t>
            </ns1:r>
            <ns1:endParaRPr lang="en-US" sz="1350" dirty="0"/>
          </ns1:p>
          <ns1:p>
            <ns1:pPr indent="0" marL="0">
              <ns1:spcAft>
                <ns1:spcPts val="600"/>
              </ns1:spcAft>
              <ns1:buNone/>
            </ns1:pPr>
            <ns1:r>
              <ns1:rPr lang="en-US" sz="1350" dirty="0">
                <ns1:solidFill>
                  <ns1:srgbClr val="CBD5E1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它把「做」的活干完并自证质量，</ns1:t>
            </ns1:r>
            <ns1:r>
              <ns1:rPr lang="en-US" sz="1350" b="1" dirty="0">
                <ns1:solidFill>
                  <ns1:srgbClr val="E2E8F0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「判」的权始终在人。</ns1:t>
            </ns1:r>
            <ns1:endParaRPr lang="en-US" sz="135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822960" y="3657600"/>
            <ns1:ext cx="2331720" cy="1371600"/>
          </ns1:xfrm>
          <ns1:prstGeom prst="roundRect">
            <ns1:avLst>
              <ns1:gd name="adj" fmla="val 6000"/>
            </ns1:avLst>
          </ns1:prstGeom>
          <ns1:solidFill>
            <ns1:srgbClr val="1E293B"/>
          </ns1:solidFill>
          <ns1:ln w="12700">
            <ns1:solidFill>
              <ns1:srgbClr val="334155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822960" y="3657600"/>
            <ns1:ext cx="2331720" cy="1371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spcAft>
                <ns1:spcPts val="400"/>
              </ns1:spcAft>
              <ns1:buNone/>
            </ns1:pPr>
            <ns1:r>
              <ns1:rPr lang="en-US" sz="1500" b="1" dirty="0">
                <ns1:solidFill>
                  <ns1:srgbClr val="E2E8F0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需求受理</ns1:t>
            </ns1:r>
            <ns1:endParaRPr lang="en-US" sz="1500" dirty="0"/>
          </ns1:p>
          <ns1:p>
            <ns1:pPr algn="ctr" indent="0" marL="0">
              <ns1:spcAft>
                <ns1:spcPts val="400"/>
              </ns1:spcAft>
              <ns1:buNone/>
            </ns1:pPr>
            <ns1:r>
              <ns1:rPr lang="en-US" sz="10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BA 产出 RS + mapping</ns1:t>
            </ns1:r>
            <ns1:endParaRPr lang="en-US" sz="1500" dirty="0"/>
          </ns1:p>
          <ns1:p>
            <ns1:pPr algn="ctr" indent="0" marL="0">
              <ns1:spcAft>
                <ns1:spcPts val="400"/>
              </ns1:spcAft>
              <ns1:buNone/>
            </ns1:pPr>
            <ns1:r>
              <ns1:rPr lang="en-US" sz="95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上游 · 人</ns1:t>
            </ns1:r>
            <ns1:endParaRPr lang="en-US" sz="15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3200400" y="4343400"/>
            <ns1:ext cx="320040" cy="0"/>
          </ns1:xfrm>
          <ns1:prstGeom prst="line">
            <ns1:avLst/>
          </ns1:prstGeom>
          <ns1:noFill/>
          <ns1:ln w="25400">
            <ns1:solidFill>
              <ns1:srgbClr val="94A3B8"/>
            </ns1:solidFill>
            <ns1:prstDash val="solid"/>
            <ns1:tailEnd type="triangle"/>
          </ns1:ln>
        </ns0:spPr>
      </ns0:sp>
      <ns0:sp>
        <ns0:nvSpPr>
          <ns0:cNvPr id="8" name="Shape 6"/>
          <ns0:cNvSpPr/>
          <ns0:nvPr/>
        </ns0:nvSpPr>
        <ns0:spPr>
          <ns1:xfrm>
            <ns1:off x="3566160" y="3493008"/>
            <ns1:ext cx="5029200" cy="1700784"/>
          </ns1:xfrm>
          <ns1:prstGeom prst="roundRect">
            <ns1:avLst>
              <ns1:gd name="adj" fmla="val 4839"/>
            </ns1:avLst>
          </ns1:prstGeom>
          <ns1:solidFill>
            <ns1:srgbClr val="2563EB"/>
          </ns1:solidFill>
          <ns1:ln/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9" name="Text 7"/>
          <ns0:cNvSpPr/>
          <ns0:nvPr/>
        </ns0:nvSpPr>
        <ns0:spPr>
          <ns1:xfrm>
            <ns1:off x="3566160" y="3493008"/>
            <ns1:ext cx="5029200" cy="17007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spcAft>
                <ns1:spcPts val="400"/>
              </ns1:spcAft>
              <ns1:buNone/>
            </ns1:pPr>
            <ns1:r>
              <ns1:rPr lang="en-US" sz="1700" b="1" dirty="0">
                <ns1:solidFill>
                  <ns1:srgbClr val="FFFFFF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设计 → 编码 → 测试 → 交付制品</ns1:t>
            </ns1:r>
            <ns1:endParaRPr lang="en-US" sz="1700" dirty="0"/>
          </ns1:p>
          <ns1:p>
            <ns1:pPr algn="ctr" indent="0" marL="0">
              <ns1:spcAft>
                <ns1:spcPts val="400"/>
              </ns1:spcAft>
              <ns1:buNone/>
            </ns1:pPr>
            <ns1:r>
              <ns1:rPr lang="en-US" sz="1100" dirty="0">
                <ns1:solidFill>
                  <ns1:srgbClr val="BFDBFE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智能体一条龙 · 程序化质检 · 两处人工闸口</ns1:t>
            </ns1:r>
            <ns1:endParaRPr lang="en-US" sz="1700" dirty="0"/>
          </ns1:p>
          <ns1:p>
            <ns1:pPr algn="ctr" indent="0" marL="0">
              <ns1:spcAft>
                <ns1:spcPts val="400"/>
              </ns1:spcAft>
              <ns1:buNone/>
            </ns1:pPr>
            <ns1:r>
              <ns1:rPr lang="en-US" sz="1050" dirty="0">
                <ns1:solidFill>
                  <ns1:srgbClr val="93C5FD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粗设计 → 细设计 → 编码 → UT 实测</ns1:t>
            </ns1:r>
            <ns1:endParaRPr lang="en-US" sz="1700" dirty="0"/>
          </ns1:p>
          <ns1:p>
            <ns1:pPr algn="ctr" indent="0" marL="0">
              <ns1:spcAft>
                <ns1:spcPts val="400"/>
              </ns1:spcAft>
              <ns1:buNone/>
            </ns1:pPr>
            <ns1:r>
              <ns1:rPr lang="en-US" sz="950" dirty="0">
                <ns1:solidFill>
                  <ns1:srgbClr val="93C5FD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（本讲的主角）</ns1:t>
            </ns1:r>
            <ns1:endParaRPr lang="en-US" sz="1700" dirty="0"/>
          </ns1:p>
        </ns0:txBody>
      </ns0:sp>
      <ns0:sp>
        <ns0:nvSpPr>
          <ns0:cNvPr id="10" name="Shape 8"/>
          <ns0:cNvSpPr/>
          <ns0:nvPr/>
        </ns0:nvSpPr>
        <ns0:spPr>
          <ns1:xfrm>
            <ns1:off x="8641080" y="4343400"/>
            <ns1:ext cx="320040" cy="0"/>
          </ns1:xfrm>
          <ns1:prstGeom prst="line">
            <ns1:avLst/>
          </ns1:prstGeom>
          <ns1:noFill/>
          <ns1:ln w="25400">
            <ns1:solidFill>
              <ns1:srgbClr val="94A3B8"/>
            </ns1:solidFill>
            <ns1:prstDash val="solid"/>
            <ns1:tailEnd type="triangle"/>
          </ns1:ln>
        </ns0:spPr>
      </ns0:sp>
      <ns0:sp>
        <ns0:nvSpPr>
          <ns0:cNvPr id="11" name="Shape 9"/>
          <ns0:cNvSpPr/>
          <ns0:nvPr/>
        </ns0:nvSpPr>
        <ns0:spPr>
          <ns1:xfrm>
            <ns1:off x="9006840" y="3657600"/>
            <ns1:ext cx="2331720" cy="1371600"/>
          </ns1:xfrm>
          <ns1:prstGeom prst="roundRect">
            <ns1:avLst>
              <ns1:gd name="adj" fmla="val 6000"/>
            </ns1:avLst>
          </ns1:prstGeom>
          <ns1:solidFill>
            <ns1:srgbClr val="1E293B"/>
          </ns1:solidFill>
          <ns1:ln w="12700">
            <ns1:solidFill>
              <ns1:srgbClr val="334155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9006840" y="3657600"/>
            <ns1:ext cx="2331720" cy="1371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spcAft>
                <ns1:spcPts val="400"/>
              </ns1:spcAft>
              <ns1:buNone/>
            </ns1:pPr>
            <ns1:r>
              <ns1:rPr lang="en-US" sz="1500" b="1" dirty="0">
                <ns1:solidFill>
                  <ns1:srgbClr val="E2E8F0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上线调度</ns1:t>
            </ns1:r>
            <ns1:endParaRPr lang="en-US" sz="1500" dirty="0"/>
          </ns1:p>
          <ns1:p>
            <ns1:pPr algn="ctr" indent="0" marL="0">
              <ns1:spcAft>
                <ns1:spcPts val="400"/>
              </ns1:spcAft>
              <ns1:buNone/>
            </ns1:pPr>
            <ns1:r>
              <ns1:rPr lang="en-US" sz="10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制品入档案，人推生产</ns1:t>
            </ns1:r>
            <ns1:endParaRPr lang="en-US" sz="1500" dirty="0"/>
          </ns1:p>
          <ns1:p>
            <ns1:pPr algn="ctr" indent="0" marL="0">
              <ns1:spcAft>
                <ns1:spcPts val="400"/>
              </ns1:spcAft>
              <ns1:buNone/>
            </ns1:pPr>
            <ns1:r>
              <ns1:rPr lang="en-US" sz="95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下游 · 人</ns1:t>
            </ns1:r>
            <ns1:endParaRPr lang="en-US" sz="150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822960" y="5532120"/>
            <ns1:ext cx="5166360" cy="731520"/>
          </ns1:xfrm>
          <ns1:prstGeom prst="roundRect">
            <ns1:avLst>
              <ns1:gd name="adj" fmla="val 11250"/>
            </ns1:avLst>
          </ns1:prstGeom>
          <ns1:solidFill>
            <ns1:srgbClr val="1E3A8A"/>
          </ns1:solidFill>
          <ns1:ln/>
        </ns0:spPr>
      </ns0:sp>
      <ns0:sp>
        <ns0:nvSpPr>
          <ns0:cNvPr id="14" name="Text 12"/>
          <ns0:cNvSpPr/>
          <ns0:nvPr/>
        </ns0:nvSpPr>
        <ns0:spPr>
          <ns1:xfrm>
            <ns1:off x="1005840" y="5532120"/>
            <ns1:ext cx="489204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50" b="1" dirty="0">
                <ns1:solidFill>
                  <ns1:srgbClr val="DBEAFE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★ 新建交付</ns1:t>
            </ns1:r>
            <ns1:r>
              <ns1:rPr lang="en-US" sz="1150" dirty="0">
                <ns1:solidFill>
                  <ns1:srgbClr val="BFDBFE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 —— 本次宣讲主线：RS + mapping → 全新资产全流程</ns1:t>
            </ns1:r>
            <ns1:endParaRPr lang="en-US" sz="115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6172200" y="5532120"/>
            <ns1:ext cx="5166360" cy="731520"/>
          </ns1:xfrm>
          <ns1:prstGeom prst="roundRect">
            <ns1:avLst>
              <ns1:gd name="adj" fmla="val 11250"/>
            </ns1:avLst>
          </ns1:prstGeom>
          <ns1:solidFill>
            <ns1:srgbClr val="1E293B"/>
          </ns1:solidFill>
          <ns1:ln w="12700">
            <ns1:solidFill>
              <ns1:srgbClr val="334155"/>
            </ns1:solidFill>
            <ns1:prstDash val="solid"/>
          </ns1:ln>
        </ns0:spPr>
      </ns0:sp>
      <ns0:sp>
        <ns0:nvSpPr>
          <ns0:cNvPr id="16" name="Text 14"/>
          <ns0:cNvSpPr/>
          <ns0:nvPr/>
        </ns0:nvSpPr>
        <ns0:spPr>
          <ns1:xfrm>
            <ns1:off x="6355080" y="5532120"/>
            <ns1:ext cx="489204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50" b="1" dirty="0">
                <ns1:solidFill>
                  <ns1:srgbClr val="CBD5E1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存量优化</ns1:t>
            </ns1:r>
            <ns1:r>
              <ns1:rPr lang="en-US" sz="11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 —— 精确增量 · 存量零接触 · 开发调试中，后续专题</ns1:t>
            </ns1:r>
            <ns1:endParaRPr lang="en-US" sz="1150" dirty="0"/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>
  <ns0:cSld name="Slide 2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457200" y="274320"/>
            <ns1:ext cx="54864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b="1" spc="200" kern="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02 · 它是什么</ns1:t>
            </ns1:r>
            <ns1:endParaRPr lang="en-US" sz="105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457200" y="530352"/>
            <ns1:ext cx="11274552" cy="502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5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八个步骤一条龙：AI 干活，程序把关，人只在两处拍板</ns1:t>
            </ns1:r>
            <ns1:endParaRPr lang="en-US" sz="25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457200" y="1042416"/>
            <ns1:ext cx="11274552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从输入校验到制品落档案，每一步都有明确的责任者——人只在闸口①②出手，其余全程自动，每一步的产物都落盘可查。</ns1:t>
            </ns1:r>
            <ns1:endParaRPr lang="en-US" sz="12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457200" y="1554480"/>
            <ns1:ext cx="1344168" cy="1481328"/>
          </ns1:xfrm>
          <ns1:prstGeom prst="roundRect">
            <ns1:avLst>
              <ns1:gd name="adj" fmla="val 4082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493776" y="1636776"/>
            <ns1:ext cx="1271016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① 预处理·预检</ns1:t>
            </ns1:r>
            <ns1:endParaRPr lang="en-US" sz="1100" dirty="0"/>
          </ns1:p>
        </ns0:txBody>
      </ns0:sp>
      <ns0:sp>
        <ns0:nvSpPr>
          <ns0:cNvPr id="7" name="Text 5"/>
          <ns0:cNvSpPr/>
          <ns0:nvPr/>
        </ns0:nvSpPr>
        <ns0:spPr>
          <ns1:xfrm>
            <ns1:off x="502920" y="1920240"/>
            <ns1:ext cx="1252728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输入校验·连库查字段</ns1:t>
            </ns1:r>
            <ns1:endParaRPr lang="en-US" sz="85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值域提前暴露</ns1:t>
            </ns1:r>
            <ns1:endParaRPr lang="en-US" sz="850" dirty="0"/>
          </ns1:p>
        </ns0:txBody>
      </ns0:sp>
      <ns0:sp>
        <ns0:nvSpPr>
          <ns0:cNvPr id="8" name="Shape 6"/>
          <ns0:cNvSpPr/>
          <ns0:nvPr/>
        </ns0:nvSpPr>
        <ns0:spPr>
          <ns1:xfrm>
            <ns1:off x="672084" y="2688336"/>
            <ns1:ext cx="914400" cy="246888"/>
          </ns1:xfrm>
          <ns1:prstGeom prst="roundRect">
            <ns1:avLst>
              <ns1:gd name="adj" fmla="val 48780"/>
            </ns1:avLst>
          </ns1:prstGeom>
          <ns1:solidFill>
            <ns1:srgbClr val="D1FAE5"/>
          </ns1:solidFill>
          <ns1:ln/>
        </ns0:spPr>
      </ns0:sp>
      <ns0:sp>
        <ns0:nvSpPr>
          <ns0:cNvPr id="9" name="Text 7"/>
          <ns0:cNvSpPr/>
          <ns0:nvPr/>
        </ns0:nvSpPr>
        <ns0:spPr>
          <ns1:xfrm>
            <ns1:off x="672084" y="2670048"/>
            <ns1:ext cx="914400" cy="2468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850" b="1" dirty="0">
                <ns1:solidFill>
                  <ns1:srgbClr val="047857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程序</ns1:t>
            </ns1:r>
            <ns1:endParaRPr lang="en-US" sz="850" dirty="0"/>
          </ns1:p>
        </ns0:txBody>
      </ns0:sp>
      <ns0:sp>
        <ns0:nvSpPr>
          <ns0:cNvPr id="10" name="Shape 8"/>
          <ns0:cNvSpPr/>
          <ns0:nvPr/>
        </ns0:nvSpPr>
        <ns0:spPr>
          <ns1:xfrm>
            <ns1:off x="1858975" y="1554480"/>
            <ns1:ext cx="1344168" cy="1481328"/>
          </ns1:xfrm>
          <ns1:prstGeom prst="roundRect">
            <ns1:avLst>
              <ns1:gd name="adj" fmla="val 4082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11" name="Text 9"/>
          <ns0:cNvSpPr/>
          <ns0:nvPr/>
        </ns0:nvSpPr>
        <ns0:spPr>
          <ns1:xfrm>
            <ns1:off x="1895551" y="1636776"/>
            <ns1:ext cx="1271016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② 设计</ns1:t>
            </ns1:r>
            <ns1:endParaRPr lang="en-US" sz="1100" dirty="0"/>
          </ns1:p>
        </ns0:txBody>
      </ns0:sp>
      <ns0:sp>
        <ns0:nvSpPr>
          <ns0:cNvPr id="12" name="Text 10"/>
          <ns0:cNvSpPr/>
          <ns0:nvPr/>
        </ns0:nvSpPr>
        <ns0:spPr>
          <ns1:xfrm>
            <ns1:off x="1904695" y="1920240"/>
            <ns1:ext cx="1252728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五层决策骨架</ns1:t>
            </ns1:r>
            <ns1:endParaRPr lang="en-US" sz="85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产设计文档+口径</ns1:t>
            </ns1:r>
            <ns1:endParaRPr lang="en-US" sz="85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2073859" y="2688336"/>
            <ns1:ext cx="914400" cy="246888"/>
          </ns1:xfrm>
          <ns1:prstGeom prst="roundRect">
            <ns1:avLst>
              <ns1:gd name="adj" fmla="val 48780"/>
            </ns1:avLst>
          </ns1:prstGeom>
          <ns1:solidFill>
            <ns1:srgbClr val="DBEAFE"/>
          </ns1:solidFill>
          <ns1:ln/>
        </ns0:spPr>
      </ns0:sp>
      <ns0:sp>
        <ns0:nvSpPr>
          <ns0:cNvPr id="14" name="Text 12"/>
          <ns0:cNvSpPr/>
          <ns0:nvPr/>
        </ns0:nvSpPr>
        <ns0:spPr>
          <ns1:xfrm>
            <ns1:off x="2073859" y="2670048"/>
            <ns1:ext cx="914400" cy="2468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850" b="1" dirty="0">
                <ns1:solidFill>
                  <ns1:srgbClr val="1D4ED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AI</ns1:t>
            </ns1:r>
            <ns1:endParaRPr lang="en-US" sz="85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3260750" y="1554480"/>
            <ns1:ext cx="1344168" cy="1481328"/>
          </ns1:xfrm>
          <ns1:prstGeom prst="roundRect">
            <ns1:avLst>
              <ns1:gd name="adj" fmla="val 4082"/>
            </ns1:avLst>
          </ns1:prstGeom>
          <ns1:solidFill>
            <ns1:srgbClr val="FFFBEB"/>
          </ns1:solidFill>
          <ns1:ln w="19050">
            <ns1:solidFill>
              <ns1:srgbClr val="F59E0B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16" name="Text 14"/>
          <ns0:cNvSpPr/>
          <ns0:nvPr/>
        </ns0:nvSpPr>
        <ns0:spPr>
          <ns1:xfrm>
            <ns1:off x="3297326" y="1636776"/>
            <ns1:ext cx="1271016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92400E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③ 闸口①</ns1:t>
            </ns1:r>
            <ns1:endParaRPr lang="en-US" sz="1100" dirty="0"/>
          </ns1:p>
        </ns0:txBody>
      </ns0:sp>
      <ns0:sp>
        <ns0:nvSpPr>
          <ns0:cNvPr id="17" name="Text 15"/>
          <ns0:cNvSpPr/>
          <ns0:nvPr/>
        </ns0:nvSpPr>
        <ns0:spPr>
          <ns1:xfrm>
            <ns1:off x="3306470" y="1920240"/>
            <ns1:ext cx="1252728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A16207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确认设计方向</ns1:t>
            </ns1:r>
            <ns1:endParaRPr lang="en-US" sz="85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A16207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看摘要+关联实测</ns1:t>
            </ns1:r>
            <ns1:endParaRPr lang="en-US" sz="85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3475634" y="2688336"/>
            <ns1:ext cx="914400" cy="246888"/>
          </ns1:xfrm>
          <ns1:prstGeom prst="roundRect">
            <ns1:avLst>
              <ns1:gd name="adj" fmla="val 48780"/>
            </ns1:avLst>
          </ns1:prstGeom>
          <ns1:solidFill>
            <ns1:srgbClr val="FEF3C7"/>
          </ns1:solidFill>
          <ns1:ln/>
        </ns0:spPr>
      </ns0:sp>
      <ns0:sp>
        <ns0:nvSpPr>
          <ns0:cNvPr id="19" name="Text 17"/>
          <ns0:cNvSpPr/>
          <ns0:nvPr/>
        </ns0:nvSpPr>
        <ns0:spPr>
          <ns1:xfrm>
            <ns1:off x="3475634" y="2670048"/>
            <ns1:ext cx="914400" cy="2468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850" b="1" dirty="0">
                <ns1:solidFill>
                  <ns1:srgbClr val="92400E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★ 人拍板</ns1:t>
            </ns1:r>
            <ns1:endParaRPr lang="en-US" sz="850" dirty="0"/>
          </ns1:p>
        </ns0:txBody>
      </ns0:sp>
      <ns0:sp>
        <ns0:nvSpPr>
          <ns0:cNvPr id="20" name="Shape 18"/>
          <ns0:cNvSpPr/>
          <ns0:nvPr/>
        </ns0:nvSpPr>
        <ns0:spPr>
          <ns1:xfrm>
            <ns1:off x="4662526" y="1554480"/>
            <ns1:ext cx="1344168" cy="1481328"/>
          </ns1:xfrm>
          <ns1:prstGeom prst="roundRect">
            <ns1:avLst>
              <ns1:gd name="adj" fmla="val 4082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21" name="Text 19"/>
          <ns0:cNvSpPr/>
          <ns0:nvPr/>
        </ns0:nvSpPr>
        <ns0:spPr>
          <ns1:xfrm>
            <ns1:off x="4699102" y="1636776"/>
            <ns1:ext cx="1271016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④ DDL</ns1:t>
            </ns1:r>
            <ns1:endParaRPr lang="en-US" sz="1100" dirty="0"/>
          </ns1:p>
        </ns0:txBody>
      </ns0:sp>
      <ns0:sp>
        <ns0:nvSpPr>
          <ns0:cNvPr id="22" name="Text 20"/>
          <ns0:cNvSpPr/>
          <ns0:nvPr/>
        </ns0:nvSpPr>
        <ns0:spPr>
          <ns1:xfrm>
            <ns1:off x="4708246" y="1920240"/>
            <ns1:ext cx="1252728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由设计文档生成</ns1:t>
            </ns1:r>
            <ns1:endParaRPr lang="en-US" sz="85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建表+视图脚本</ns1:t>
            </ns1:r>
            <ns1:endParaRPr lang="en-US" sz="850" dirty="0"/>
          </ns1:p>
        </ns0:txBody>
      </ns0:sp>
      <ns0:sp>
        <ns0:nvSpPr>
          <ns0:cNvPr id="23" name="Shape 21"/>
          <ns0:cNvSpPr/>
          <ns0:nvPr/>
        </ns0:nvSpPr>
        <ns0:spPr>
          <ns1:xfrm>
            <ns1:off x="4877410" y="2688336"/>
            <ns1:ext cx="914400" cy="246888"/>
          </ns1:xfrm>
          <ns1:prstGeom prst="roundRect">
            <ns1:avLst>
              <ns1:gd name="adj" fmla="val 48780"/>
            </ns1:avLst>
          </ns1:prstGeom>
          <ns1:solidFill>
            <ns1:srgbClr val="D1FAE5"/>
          </ns1:solidFill>
          <ns1:ln/>
        </ns0:spPr>
      </ns0:sp>
      <ns0:sp>
        <ns0:nvSpPr>
          <ns0:cNvPr id="24" name="Text 22"/>
          <ns0:cNvSpPr/>
          <ns0:nvPr/>
        </ns0:nvSpPr>
        <ns0:spPr>
          <ns1:xfrm>
            <ns1:off x="4877410" y="2670048"/>
            <ns1:ext cx="914400" cy="2468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850" b="1" dirty="0">
                <ns1:solidFill>
                  <ns1:srgbClr val="047857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程序</ns1:t>
            </ns1:r>
            <ns1:endParaRPr lang="en-US" sz="85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6064301" y="1554480"/>
            <ns1:ext cx="1344168" cy="1481328"/>
          </ns1:xfrm>
          <ns1:prstGeom prst="roundRect">
            <ns1:avLst>
              <ns1:gd name="adj" fmla="val 4082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26" name="Text 24"/>
          <ns0:cNvSpPr/>
          <ns0:nvPr/>
        </ns0:nvSpPr>
        <ns0:spPr>
          <ns1:xfrm>
            <ns1:off x="6100877" y="1636776"/>
            <ns1:ext cx="1271016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⑤ 编码</ns1:t>
            </ns1:r>
            <ns1:endParaRPr lang="en-US" sz="1100" dirty="0"/>
          </ns1:p>
        </ns0:txBody>
      </ns0:sp>
      <ns0:sp>
        <ns0:nvSpPr>
          <ns0:cNvPr id="27" name="Text 25"/>
          <ns0:cNvSpPr/>
          <ns0:nvPr/>
        </ns0:nvSpPr>
        <ns0:spPr>
          <ns1:xfrm>
            <ns1:off x="6110021" y="1920240"/>
            <ns1:ext cx="1252728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逐规则产 SELECT</ns1:t>
            </ns1:r>
            <ns1:endParaRPr lang="en-US" sz="85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+ DQ 检查 SQL</ns1:t>
            </ns1:r>
            <ns1:endParaRPr lang="en-US" sz="850" dirty="0"/>
          </ns1:p>
        </ns0:txBody>
      </ns0:sp>
      <ns0:sp>
        <ns0:nvSpPr>
          <ns0:cNvPr id="28" name="Shape 26"/>
          <ns0:cNvSpPr/>
          <ns0:nvPr/>
        </ns0:nvSpPr>
        <ns0:spPr>
          <ns1:xfrm>
            <ns1:off x="6279185" y="2688336"/>
            <ns1:ext cx="914400" cy="246888"/>
          </ns1:xfrm>
          <ns1:prstGeom prst="roundRect">
            <ns1:avLst>
              <ns1:gd name="adj" fmla="val 48780"/>
            </ns1:avLst>
          </ns1:prstGeom>
          <ns1:solidFill>
            <ns1:srgbClr val="DBEAFE"/>
          </ns1:solidFill>
          <ns1:ln/>
        </ns0:spPr>
      </ns0:sp>
      <ns0:sp>
        <ns0:nvSpPr>
          <ns0:cNvPr id="29" name="Text 27"/>
          <ns0:cNvSpPr/>
          <ns0:nvPr/>
        </ns0:nvSpPr>
        <ns0:spPr>
          <ns1:xfrm>
            <ns1:off x="6279185" y="2670048"/>
            <ns1:ext cx="914400" cy="2468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850" b="1" dirty="0">
                <ns1:solidFill>
                  <ns1:srgbClr val="1D4ED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AI</ns1:t>
            </ns1:r>
            <ns1:endParaRPr lang="en-US" sz="850" dirty="0"/>
          </ns1:p>
        </ns0:txBody>
      </ns0:sp>
      <ns0:sp>
        <ns0:nvSpPr>
          <ns0:cNvPr id="30" name="Shape 28"/>
          <ns0:cNvSpPr/>
          <ns0:nvPr/>
        </ns0:nvSpPr>
        <ns0:spPr>
          <ns1:xfrm>
            <ns1:off x="7466076" y="1554480"/>
            <ns1:ext cx="1344168" cy="1481328"/>
          </ns1:xfrm>
          <ns1:prstGeom prst="roundRect">
            <ns1:avLst>
              <ns1:gd name="adj" fmla="val 4082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31" name="Text 29"/>
          <ns0:cNvSpPr/>
          <ns0:nvPr/>
        </ns0:nvSpPr>
        <ns0:spPr>
          <ns1:xfrm>
            <ns1:off x="7502652" y="1636776"/>
            <ns1:ext cx="1271016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⑥ UT 实测</ns1:t>
            </ns1:r>
            <ns1:endParaRPr lang="en-US" sz="1100" dirty="0"/>
          </ns1:p>
        </ns0:txBody>
      </ns0:sp>
      <ns0:sp>
        <ns0:nvSpPr>
          <ns0:cNvPr id="32" name="Text 30"/>
          <ns0:cNvSpPr/>
          <ns0:nvPr/>
        </ns0:nvSpPr>
        <ns0:spPr>
          <ns1:xfrm>
            <ns1:off x="7511796" y="1920240"/>
            <ns1:ext cx="1252728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预检秒级+真库执行</ns1:t>
            </ns1:r>
            <ns1:endParaRPr lang="en-US" sz="85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主键/空值/行数实锤</ns1:t>
            </ns1:r>
            <ns1:endParaRPr lang="en-US" sz="850" dirty="0"/>
          </ns1:p>
        </ns0:txBody>
      </ns0:sp>
      <ns0:sp>
        <ns0:nvSpPr>
          <ns0:cNvPr id="33" name="Shape 31"/>
          <ns0:cNvSpPr/>
          <ns0:nvPr/>
        </ns0:nvSpPr>
        <ns0:spPr>
          <ns1:xfrm>
            <ns1:off x="7680960" y="2688336"/>
            <ns1:ext cx="914400" cy="246888"/>
          </ns1:xfrm>
          <ns1:prstGeom prst="roundRect">
            <ns1:avLst>
              <ns1:gd name="adj" fmla="val 48780"/>
            </ns1:avLst>
          </ns1:prstGeom>
          <ns1:solidFill>
            <ns1:srgbClr val="D1FAE5"/>
          </ns1:solidFill>
          <ns1:ln/>
        </ns0:spPr>
      </ns0:sp>
      <ns0:sp>
        <ns0:nvSpPr>
          <ns0:cNvPr id="34" name="Text 32"/>
          <ns0:cNvSpPr/>
          <ns0:nvPr/>
        </ns0:nvSpPr>
        <ns0:spPr>
          <ns1:xfrm>
            <ns1:off x="7680960" y="2670048"/>
            <ns1:ext cx="914400" cy="2468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850" b="1" dirty="0">
                <ns1:solidFill>
                  <ns1:srgbClr val="047857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程序</ns1:t>
            </ns1:r>
            <ns1:endParaRPr lang="en-US" sz="850" dirty="0"/>
          </ns1:p>
        </ns0:txBody>
      </ns0:sp>
      <ns0:sp>
        <ns0:nvSpPr>
          <ns0:cNvPr id="35" name="Shape 33"/>
          <ns0:cNvSpPr/>
          <ns0:nvPr/>
        </ns0:nvSpPr>
        <ns0:spPr>
          <ns1:xfrm>
            <ns1:off x="8867851" y="1554480"/>
            <ns1:ext cx="1344168" cy="1481328"/>
          </ns1:xfrm>
          <ns1:prstGeom prst="roundRect">
            <ns1:avLst>
              <ns1:gd name="adj" fmla="val 4082"/>
            </ns1:avLst>
          </ns1:prstGeom>
          <ns1:solidFill>
            <ns1:srgbClr val="FFFBEB"/>
          </ns1:solidFill>
          <ns1:ln w="19050">
            <ns1:solidFill>
              <ns1:srgbClr val="F59E0B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36" name="Text 34"/>
          <ns0:cNvSpPr/>
          <ns0:nvPr/>
        </ns0:nvSpPr>
        <ns0:spPr>
          <ns1:xfrm>
            <ns1:off x="8904427" y="1636776"/>
            <ns1:ext cx="1271016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92400E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⑦ 闸口②</ns1:t>
            </ns1:r>
            <ns1:endParaRPr lang="en-US" sz="1100" dirty="0"/>
          </ns1:p>
        </ns0:txBody>
      </ns0:sp>
      <ns0:sp>
        <ns0:nvSpPr>
          <ns0:cNvPr id="37" name="Text 35"/>
          <ns0:cNvSpPr/>
          <ns0:nvPr/>
        </ns0:nvSpPr>
        <ns0:spPr>
          <ns1:xfrm>
            <ns1:off x="8913571" y="1920240"/>
            <ns1:ext cx="1252728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A16207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确认编码质量</ns1:t>
            </ns1:r>
            <ns1:endParaRPr lang="en-US" sz="85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A16207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看 UT 报告+DQ 告警</ns1:t>
            </ns1:r>
            <ns1:endParaRPr lang="en-US" sz="850" dirty="0"/>
          </ns1:p>
        </ns0:txBody>
      </ns0:sp>
      <ns0:sp>
        <ns0:nvSpPr>
          <ns0:cNvPr id="38" name="Shape 36"/>
          <ns0:cNvSpPr/>
          <ns0:nvPr/>
        </ns0:nvSpPr>
        <ns0:spPr>
          <ns1:xfrm>
            <ns1:off x="9082735" y="2688336"/>
            <ns1:ext cx="914400" cy="246888"/>
          </ns1:xfrm>
          <ns1:prstGeom prst="roundRect">
            <ns1:avLst>
              <ns1:gd name="adj" fmla="val 48780"/>
            </ns1:avLst>
          </ns1:prstGeom>
          <ns1:solidFill>
            <ns1:srgbClr val="FEF3C7"/>
          </ns1:solidFill>
          <ns1:ln/>
        </ns0:spPr>
      </ns0:sp>
      <ns0:sp>
        <ns0:nvSpPr>
          <ns0:cNvPr id="39" name="Text 37"/>
          <ns0:cNvSpPr/>
          <ns0:nvPr/>
        </ns0:nvSpPr>
        <ns0:spPr>
          <ns1:xfrm>
            <ns1:off x="9082735" y="2670048"/>
            <ns1:ext cx="914400" cy="2468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850" b="1" dirty="0">
                <ns1:solidFill>
                  <ns1:srgbClr val="92400E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★ 人拍板</ns1:t>
            </ns1:r>
            <ns1:endParaRPr lang="en-US" sz="850" dirty="0"/>
          </ns1:p>
        </ns0:txBody>
      </ns0:sp>
      <ns0:sp>
        <ns0:nvSpPr>
          <ns0:cNvPr id="40" name="Shape 38"/>
          <ns0:cNvSpPr/>
          <ns0:nvPr/>
        </ns0:nvSpPr>
        <ns0:spPr>
          <ns1:xfrm>
            <ns1:off x="10269626" y="1554480"/>
            <ns1:ext cx="1344168" cy="1481328"/>
          </ns1:xfrm>
          <ns1:prstGeom prst="roundRect">
            <ns1:avLst>
              <ns1:gd name="adj" fmla="val 4082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</ns0:spPr>
      </ns0:sp>
      <ns0:sp>
        <ns0:nvSpPr>
          <ns0:cNvPr id="41" name="Text 39"/>
          <ns0:cNvSpPr/>
          <ns0:nvPr/>
        </ns0:nvSpPr>
        <ns0:spPr>
          <ns1:xfrm>
            <ns1:off x="10306202" y="1636776"/>
            <ns1:ext cx="1271016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⑧ 制品包</ns1:t>
            </ns1:r>
            <ns1:endParaRPr lang="en-US" sz="1100" dirty="0"/>
          </ns1:p>
        </ns0:txBody>
      </ns0:sp>
      <ns0:sp>
        <ns0:nvSpPr>
          <ns0:cNvPr id="42" name="Text 40"/>
          <ns0:cNvSpPr/>
          <ns0:nvPr/>
        </ns0:nvSpPr>
        <ns0:spPr>
          <ns1:xfrm>
            <ns1:off x="10315346" y="1920240"/>
            <ns1:ext cx="1252728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平台 xlsx 生成</ns1:t>
            </ns1:r>
            <ns1:endParaRPr lang="en-US" sz="85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资产落档案+索引</ns1:t>
            </ns1:r>
            <ns1:endParaRPr lang="en-US" sz="850" dirty="0"/>
          </ns1:p>
        </ns0:txBody>
      </ns0:sp>
      <ns0:sp>
        <ns0:nvSpPr>
          <ns0:cNvPr id="43" name="Shape 41"/>
          <ns0:cNvSpPr/>
          <ns0:nvPr/>
        </ns0:nvSpPr>
        <ns0:spPr>
          <ns1:xfrm>
            <ns1:off x="10484510" y="2688336"/>
            <ns1:ext cx="914400" cy="246888"/>
          </ns1:xfrm>
          <ns1:prstGeom prst="roundRect">
            <ns1:avLst>
              <ns1:gd name="adj" fmla="val 48780"/>
            </ns1:avLst>
          </ns1:prstGeom>
          <ns1:solidFill>
            <ns1:srgbClr val="D1FAE5"/>
          </ns1:solidFill>
          <ns1:ln/>
        </ns0:spPr>
      </ns0:sp>
      <ns0:sp>
        <ns0:nvSpPr>
          <ns0:cNvPr id="44" name="Text 42"/>
          <ns0:cNvSpPr/>
          <ns0:nvPr/>
        </ns0:nvSpPr>
        <ns0:spPr>
          <ns1:xfrm>
            <ns1:off x="10484510" y="2670048"/>
            <ns1:ext cx="914400" cy="2468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850" b="1" dirty="0">
                <ns1:solidFill>
                  <ns1:srgbClr val="047857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程序</ns1:t>
            </ns1:r>
            <ns1:endParaRPr lang="en-US" sz="850" dirty="0"/>
          </ns1:p>
        </ns0:txBody>
      </ns0:sp>
      <ns0:sp>
        <ns0:nvSpPr>
          <ns0:cNvPr id="45" name="Text 43"/>
          <ns0:cNvSpPr/>
          <ns0:nvPr/>
        </ns0:nvSpPr>
        <ns0:spPr>
          <ns1:xfrm>
            <ns1:off x="457200" y="3218688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失败分流：UT 失败 ≠ 都丢回程序员，按类型定向流转——</ns1:t>
            </ns1:r>
            <ns1:endParaRPr lang="en-US" sz="1200" dirty="0"/>
          </ns1:p>
        </ns0:txBody>
      </ns0:sp>
      <ns0:sp>
        <ns0:nvSpPr>
          <ns0:cNvPr id="46" name="Shape 44"/>
          <ns0:cNvSpPr/>
          <ns0:nvPr/>
        </ns0:nvSpPr>
        <ns0:spPr>
          <ns1:xfrm>
            <ns1:off x="457200" y="3547872"/>
            <ns1:ext cx="2743200" cy="402336"/>
          </ns1:xfrm>
          <ns1:prstGeom prst="roundRect">
            <ns1:avLst>
              <ns1:gd name="adj" fmla="val 18182"/>
            </ns1:avLst>
          </ns1:prstGeom>
          <ns1:solidFill>
            <ns1:srgbClr val="FEF2F2"/>
          </ns1:solidFill>
          <ns1:ln/>
        </ns0:spPr>
      </ns0:sp>
      <ns0:sp>
        <ns0:nvSpPr>
          <ns0:cNvPr id="47" name="Text 45"/>
          <ns0:cNvSpPr/>
          <ns0:nvPr/>
        </ns0:nvSpPr>
        <ns0:spPr>
          <ns1:xfrm>
            <ns1:off x="457200" y="3529584"/>
            <ns1:ext cx="2743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B91C1C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SQL 语法错 → 回编码修 · 限 3 轮</ns1:t>
            </ns1:r>
            <ns1:endParaRPr lang="en-US" sz="1000" dirty="0"/>
          </ns1:p>
        </ns0:txBody>
      </ns0:sp>
      <ns0:sp>
        <ns0:nvSpPr>
          <ns0:cNvPr id="48" name="Shape 46"/>
          <ns0:cNvSpPr/>
          <ns0:nvPr/>
        </ns0:nvSpPr>
        <ns0:spPr>
          <ns1:xfrm>
            <ns1:off x="3300984" y="3547872"/>
            <ns1:ext cx="2743200" cy="402336"/>
          </ns1:xfrm>
          <ns1:prstGeom prst="roundRect">
            <ns1:avLst>
              <ns1:gd name="adj" fmla="val 18182"/>
            </ns1:avLst>
          </ns1:prstGeom>
          <ns1:solidFill>
            <ns1:srgbClr val="FFFBEB"/>
          </ns1:solidFill>
          <ns1:ln/>
        </ns0:spPr>
      </ns0:sp>
      <ns0:sp>
        <ns0:nvSpPr>
          <ns0:cNvPr id="49" name="Text 47"/>
          <ns0:cNvSpPr/>
          <ns0:nvPr/>
        </ns0:nvSpPr>
        <ns0:spPr>
          <ns1:xfrm>
            <ns1:off x="3300984" y="3529584"/>
            <ns1:ext cx="2743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92400E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数据质量 → 退设计重判 · 回闸口①复审</ns1:t>
            </ns1:r>
            <ns1:endParaRPr lang="en-US" sz="1000" dirty="0"/>
          </ns1:p>
        </ns0:txBody>
      </ns0:sp>
      <ns0:sp>
        <ns0:nvSpPr>
          <ns0:cNvPr id="50" name="Shape 48"/>
          <ns0:cNvSpPr/>
          <ns0:nvPr/>
        </ns0:nvSpPr>
        <ns0:spPr>
          <ns1:xfrm>
            <ns1:off x="6144768" y="3547872"/>
            <ns1:ext cx="2743200" cy="402336"/>
          </ns1:xfrm>
          <ns1:prstGeom prst="roundRect">
            <ns1:avLst>
              <ns1:gd name="adj" fmla="val 18182"/>
            </ns1:avLst>
          </ns1:prstGeom>
          <ns1:solidFill>
            <ns1:srgbClr val="EFF6FF"/>
          </ns1:solidFill>
          <ns1:ln/>
        </ns0:spPr>
      </ns0:sp>
      <ns0:sp>
        <ns0:nvSpPr>
          <ns0:cNvPr id="51" name="Text 49"/>
          <ns0:cNvSpPr/>
          <ns0:nvPr/>
        </ns0:nvSpPr>
        <ns0:spPr>
          <ns1:xfrm>
            <ns1:off x="6144768" y="3529584"/>
            <ns1:ext cx="2743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1D4ED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DQ 告警 → 人判：改码 / 改阈值 / 修源</ns1:t>
            </ns1:r>
            <ns1:endParaRPr lang="en-US" sz="1000" dirty="0"/>
          </ns1:p>
        </ns0:txBody>
      </ns0:sp>
      <ns0:sp>
        <ns0:nvSpPr>
          <ns0:cNvPr id="52" name="Shape 50"/>
          <ns0:cNvSpPr/>
          <ns0:nvPr/>
        </ns0:nvSpPr>
        <ns0:spPr>
          <ns1:xfrm>
            <ns1:off x="8988552" y="3547872"/>
            <ns1:ext cx="2743200" cy="402336"/>
          </ns1:xfrm>
          <ns1:prstGeom prst="roundRect">
            <ns1:avLst>
              <ns1:gd name="adj" fmla="val 18182"/>
            </ns1:avLst>
          </ns1:prstGeom>
          <ns1:solidFill>
            <ns1:srgbClr val="F1F5F9"/>
          </ns1:solidFill>
          <ns1:ln/>
        </ns0:spPr>
      </ns0:sp>
      <ns0:sp>
        <ns0:nvSpPr>
          <ns0:cNvPr id="53" name="Text 51"/>
          <ns0:cNvSpPr/>
          <ns0:nvPr/>
        </ns0:nvSpPr>
        <ns0:spPr>
          <ns1:xfrm>
            <ns1:off x="8988552" y="3529584"/>
            <ns1:ext cx="2743200" cy="402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环境问题 → 停下报人 · 不重试不绕过</ns1:t>
            </ns1:r>
            <ns1:endParaRPr lang="en-US" sz="1000" dirty="0"/>
          </ns1:p>
        </ns0:txBody>
      </ns0:sp>
      <ns0:sp>
        <ns0:nvSpPr>
          <ns0:cNvPr id="54" name="Shape 52"/>
          <ns0:cNvSpPr/>
          <ns0:nvPr/>
        </ns0:nvSpPr>
        <ns0:spPr>
          <ns1:xfrm>
            <ns1:off x="457200" y="4224528"/>
            <ns1:ext cx="5541264" cy="2084832"/>
          </ns1:xfrm>
          <ns1:prstGeom prst="roundRect">
            <ns1:avLst>
              <ns1:gd name="adj" fmla="val 3070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55" name="Text 53"/>
          <ns0:cNvSpPr/>
          <ns0:nvPr/>
        </ns0:nvSpPr>
        <ns0:spPr>
          <ns1:xfrm>
            <ns1:off x="685800" y="4407408"/>
            <ns1:ext cx="502920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4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★ 新建交付（本讲主线）</ns1:t>
            </ns1:r>
            <ns1:endParaRPr lang="en-US" sz="1450" dirty="0"/>
          </ns1:p>
        </ns0:txBody>
      </ns0:sp>
      <ns0:sp>
        <ns0:nvSpPr>
          <ns0:cNvPr id="56" name="Text 54"/>
          <ns0:cNvSpPr/>
          <ns0:nvPr/>
        </ns0:nvSpPr>
        <ns0:spPr>
          <ns1:xfrm>
            <ns1:off x="685800" y="4773168"/>
            <ns1:ext cx="5120640" cy="1417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152400" indent="-152400">
              <ns1:spcAft>
                <ns1:spcPts val="7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适用：全新目标表，从零到档案一次跑完</ns1:t>
            </ns1:r>
            <ns1:endParaRPr lang="en-US" sz="1150" dirty="0"/>
          </ns1:p>
          <ns1:p>
            <ns1:pPr marL="152400" indent="-152400">
              <ns1:spcAft>
                <ns1:spcPts val="7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输入：RS + mapping 两个文件，路径发起即可</ns1:t>
            </ns1:r>
            <ns1:endParaRPr lang="en-US" sz="1150" dirty="0"/>
          </ns1:p>
          <ns1:p>
            <ns1:pPr marL="152400" indent="-152400">
              <ns1:spcAft>
                <ns1:spcPts val="7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产出：设计文档 + 四件套 + UT 报告 + 平台制品包</ns1:t>
            </ns1:r>
            <ns1:endParaRPr lang="en-US" sz="1150" dirty="0"/>
          </ns1:p>
          <ns1:p>
            <ns1:pPr marL="152400" indent="-152400">
              <ns1:spcAft>
                <ns1:spcPts val="7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周期：流程连续跑完，人只需在两处确认</ns1:t>
            </ns1:r>
            <ns1:endParaRPr lang="en-US" sz="1150" dirty="0"/>
          </ns1:p>
        </ns0:txBody>
      </ns0:sp>
      <ns0:sp>
        <ns0:nvSpPr>
          <ns0:cNvPr id="57" name="Shape 55"/>
          <ns0:cNvSpPr/>
          <ns0:nvPr/>
        </ns0:nvSpPr>
        <ns0:spPr>
          <ns1:xfrm>
            <ns1:off x="6190488" y="4224528"/>
            <ns1:ext cx="5541264" cy="2084832"/>
          </ns1:xfrm>
          <ns1:prstGeom prst="roundRect">
            <ns1:avLst>
              <ns1:gd name="adj" fmla="val 3070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58" name="Text 56"/>
          <ns0:cNvSpPr/>
          <ns0:nvPr/>
        </ns0:nvSpPr>
        <ns0:spPr>
          <ns1:xfrm>
            <ns1:off x="6419088" y="4407408"/>
            <ns1:ext cx="502920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4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存量优化（在途，后续专题）</ns1:t>
            </ns1:r>
            <ns1:endParaRPr lang="en-US" sz="1450" dirty="0"/>
          </ns1:p>
        </ns0:txBody>
      </ns0:sp>
      <ns0:sp>
        <ns0:nvSpPr>
          <ns0:cNvPr id="59" name="Text 57"/>
          <ns0:cNvSpPr/>
          <ns0:nvPr/>
        </ns0:nvSpPr>
        <ns0:spPr>
          <ns1:xfrm>
            <ns1:off x="6419088" y="4773168"/>
            <ns1:ext cx="5120640" cy="1417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152400" indent="-152400">
              <ns1:spcAft>
                <ns1:spcPts val="7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全量 mapping 上标注变更行（版本+动词），RS 附变更记录</ns1:t>
            </ns1:r>
            <ns1:endParaRPr lang="en-US" sz="1150" dirty="0"/>
          </ns1:p>
          <ns1:p>
            <ns1:pPr marL="152400" indent="-152400">
              <ns1:spcAft>
                <ns1:spcPts val="7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只做精确增量：存量零接触，双向比对冻结列零差异</ns1:t>
            </ns1:r>
            <ns1:endParaRPr lang="en-US" sz="1150" dirty="0"/>
          </ns1:p>
          <ns1:p>
            <ns1:pPr marL="152400" indent="-152400">
              <ns1:spcAft>
                <ns1:spcPts val="7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设计原则与质检机制和新建完全一致，信任同一套护栏</ns1:t>
            </ns1:r>
            <ns1:endParaRPr lang="en-US" sz="1150" dirty="0"/>
          </ns1:p>
          <ns1:p>
            <ns1:pPr marL="152400" indent="-152400">
              <ns1:spcAft>
                <ns1:spcPts val="7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当前状态：开发调试中，本次不展开</ns1:t>
            </ns1:r>
            <ns1:endParaRPr lang="en-US" sz="1150" dirty="0"/>
          </ns1:p>
        </ns0:txBody>
      </ns0:sp>
      <ns0:sp>
        <ns0:nvSpPr>
          <ns0:cNvPr id="60" name="Text 58"/>
          <ns0:cNvSpPr/>
          <ns0:nvPr/>
        </ns0:nvSpPr>
        <ns0:spPr>
          <ns1:xfrm>
            <ns1:off x="457200" y="6510528"/>
            <ns1:ext cx="27432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设计开发智能体宣讲</ns1:t>
            </ns1:r>
            <ns1:endParaRPr lang="en-US" sz="950" dirty="0"/>
          </ns1:p>
        </ns0:txBody>
      </ns0:sp>
      <ns0:sp>
        <ns0:nvSpPr>
          <ns0:cNvPr id="61" name="Text 59"/>
          <ns0:cNvSpPr/>
          <ns0:nvPr/>
        </ns0:nvSpPr>
        <ns0:spPr>
          <ns1:xfrm>
            <ns1:off x="10360152" y="6510528"/>
            <ns1:ext cx="13716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02 / 10</ns1:t>
            </ns1:r>
            <ns1:endParaRPr lang="en-US" sz="950" dirty="0"/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>
  <ns0:cSld name="Slide 3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457200" y="274320"/>
            <ns1:ext cx="54864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b="1" spc="200" kern="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03 · 设计原理 Ⅰ</ns1:t>
            </ns1:r>
            <ns1:endParaRPr lang="en-US" sz="105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457200" y="530352"/>
            <ns1:ext cx="11274552" cy="502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5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三条红线：自主权收窄到「干活」，判断权留给人</ns1:t>
            </ns1:r>
            <ns1:endParaRPr lang="en-US" sz="25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457200" y="1042416"/>
            <ns1:ext cx="11274552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这不是能力限制，是刻意的设计决定——全自动交付省下的是人力，赌上的是数据正确性：错一次，就是无声上线的脏数据。</ns1:t>
            </ns1:r>
            <ns1:endParaRPr lang="en-US" sz="12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457200" y="1572768"/>
            <ns1:ext cx="3639312" cy="3977640"/>
          </ns1:xfrm>
          <ns1:prstGeom prst="roundRect">
            <ns1:avLst>
              <ns1:gd name="adj" fmla="val 1759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6" name="Text 4"/>
          <ns0:cNvSpPr/>
          <ns0:nvPr/>
        </ns0:nvSpPr>
        <ns0:spPr>
          <ns1:xfrm>
            <ns1:off x="713232" y="1783080"/>
            <ns1:ext cx="822960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4000" b="1" dirty="0">
                <ns1:solidFill>
                  <ns1:srgbClr val="2563E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1</ns1:t>
            </ns1:r>
            <ns1:endParaRPr lang="en-US" sz="4000" dirty="0"/>
          </ns1:p>
        </ns0:txBody>
      </ns0:sp>
      <ns0:sp>
        <ns0:nvSpPr>
          <ns0:cNvPr id="7" name="Text 5"/>
          <ns0:cNvSpPr/>
          <ns0:nvPr/>
        </ns0:nvSpPr>
        <ns0:spPr>
          <ns1:xfrm>
            <ns1:off x="713232" y="2542032"/>
            <ns1:ext cx="3127248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7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语义判断不自主</ns1:t>
            </ns1:r>
            <ns1:endParaRPr lang="en-US" sz="170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713232" y="2926080"/>
            <ns1:ext cx="312724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2563E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业务含义永远由人定</ns1:t>
            </ns1:r>
            <ns1:endParaRPr lang="en-US" sz="1200" dirty="0"/>
          </ns1:p>
        </ns0:txBody>
      </ns0:sp>
      <ns0:sp>
        <ns0:nvSpPr>
          <ns0:cNvPr id="9" name="Text 7"/>
          <ns0:cNvSpPr/>
          <ns0:nvPr/>
        </ns0:nvSpPr>
        <ns0:spPr>
          <ns1:xfrm>
            <ns1:off x="713232" y="3310128"/>
            <ns1:ext cx="3182112" cy="21031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152400" indent="-152400">
              <ns1:spcAft>
                <ns1:spcPts val="800"/>
              </ns1:spcAft>
              <ns1:buSzPct val="100000"/>
              <ns1:buChar char="•"/>
            </ns1:pPr>
            <ns1:r>
              <ns1:rPr lang="en-US" sz="110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关联键怎么收敛、表的粒度、主键是哪几个——只有懂业务的人能判断</ns1:t>
            </ns1:r>
            <ns1:endParaRPr lang="en-US" sz="1100" dirty="0"/>
          </ns1:p>
          <ns1:p>
            <ns1:pPr marL="152400" indent="-152400">
              <ns1:spcAft>
                <ns1:spcPts val="800"/>
              </ns1:spcAft>
              <ns1:buSzPct val="100000"/>
              <ns1:buChar char="•"/>
            </ns1:pPr>
            <ns1:r>
              <ns1:rPr lang="en-US" sz="110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智能体的做法：拿证据来问——类型风险、值域溢出、关联键对账，全部整理成选择题</ns1:t>
            </ns1:r>
            <ns1:endParaRPr lang="en-US" sz="1100" dirty="0"/>
          </ns1:p>
          <ns1:p>
            <ns1:pPr marL="152400" indent="-152400">
              <ns1:spcAft>
                <ns1:spcPts val="800"/>
              </ns1:spcAft>
              <ns1:buSzPct val="100000"/>
              <ns1:buChar char="•"/>
            </ns1:pPr>
            <ns1:r>
              <ns1:rPr lang="en-US" sz="110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实例：实测发现某关联键不唯一时，它报告差异证据、给出收敛选项，选哪个由你定</ns1:t>
            </ns1:r>
            <ns1:endParaRPr lang="en-US" sz="1100" dirty="0"/>
          </ns1:p>
        </ns0:txBody>
      </ns0:sp>
      <ns0:sp>
        <ns0:nvSpPr>
          <ns0:cNvPr id="10" name="Shape 8"/>
          <ns0:cNvSpPr/>
          <ns0:nvPr/>
        </ns0:nvSpPr>
        <ns0:spPr>
          <ns1:xfrm>
            <ns1:off x="4279392" y="1572768"/>
            <ns1:ext cx="3639312" cy="3977640"/>
          </ns1:xfrm>
          <ns1:prstGeom prst="roundRect">
            <ns1:avLst>
              <ns1:gd name="adj" fmla="val 1759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11" name="Text 9"/>
          <ns0:cNvSpPr/>
          <ns0:nvPr/>
        </ns0:nvSpPr>
        <ns0:spPr>
          <ns1:xfrm>
            <ns1:off x="4535424" y="1783080"/>
            <ns1:ext cx="822960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4000" b="1" dirty="0">
                <ns1:solidFill>
                  <ns1:srgbClr val="D97706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2</ns1:t>
            </ns1:r>
            <ns1:endParaRPr lang="en-US" sz="4000" dirty="0"/>
          </ns1:p>
        </ns0:txBody>
      </ns0:sp>
      <ns0:sp>
        <ns0:nvSpPr>
          <ns0:cNvPr id="12" name="Text 10"/>
          <ns0:cNvSpPr/>
          <ns0:nvPr/>
        </ns0:nvSpPr>
        <ns0:spPr>
          <ns1:xfrm>
            <ns1:off x="4535424" y="2542032"/>
            <ns1:ext cx="3127248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7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推生产不自主</ns1:t>
            </ns1:r>
            <ns1:endParaRPr lang="en-US" sz="1700" dirty="0"/>
          </ns1:p>
        </ns0:txBody>
      </ns0:sp>
      <ns0:sp>
        <ns0:nvSpPr>
          <ns0:cNvPr id="13" name="Text 11"/>
          <ns0:cNvSpPr/>
          <ns0:nvPr/>
        </ns0:nvSpPr>
        <ns0:spPr>
          <ns1:xfrm>
            <ns1:off x="4535424" y="2926080"/>
            <ns1:ext cx="312724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D97706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上生产永远是人按按钮</ns1:t>
            </ns1:r>
            <ns1:endParaRPr lang="en-US" sz="120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4535424" y="3310128"/>
            <ns1:ext cx="3182112" cy="21031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152400" indent="-152400">
              <ns1:spcAft>
                <ns1:spcPts val="800"/>
              </ns1:spcAft>
              <ns1:buSzPct val="100000"/>
              <ns1:buChar char="•"/>
            </ns1:pPr>
            <ns1:r>
              <ns1:rPr lang="en-US" sz="110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全部产物只落到档案目录，不触碰生产环境</ns1:t>
            </ns1:r>
            <ns1:endParaRPr lang="en-US" sz="1100" dirty="0"/>
          </ns1:p>
          <ns1:p>
            <ns1:pPr marL="152400" indent="-152400">
              <ns1:spcAft>
                <ns1:spcPts val="800"/>
              </ns1:spcAft>
              <ns1:buSzPct val="100000"/>
              <ns1:buChar char="•"/>
            </ns1:pPr>
            <ns1:r>
              <ns1:rPr lang="en-US" sz="110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UT 通过 ≠ 自动上线：闸口②确认后制品入档案，推不推、何时推，人来定</ns1:t>
            </ns1:r>
            <ns1:endParaRPr lang="en-US" sz="1100" dirty="0"/>
          </ns1:p>
          <ns1:p>
            <ns1:pPr marL="152400" indent="-152400">
              <ns1:spcAft>
                <ns1:spcPts val="800"/>
              </ns1:spcAft>
              <ns1:buSzPct val="100000"/>
              <ns1:buChar char="•"/>
            </ns1:pPr>
            <ns1:r>
              <ns1:rPr lang="en-US" sz="110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它是「交付到门口」，不是「送进家门」</ns1:t>
            </ns1:r>
            <ns1:endParaRPr lang="en-US" sz="110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8101584" y="1572768"/>
            <ns1:ext cx="3639312" cy="3977640"/>
          </ns1:xfrm>
          <ns1:prstGeom prst="roundRect">
            <ns1:avLst>
              <ns1:gd name="adj" fmla="val 1759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16" name="Text 14"/>
          <ns0:cNvSpPr/>
          <ns0:nvPr/>
        </ns0:nvSpPr>
        <ns0:spPr>
          <ns1:xfrm>
            <ns1:off x="8357616" y="1783080"/>
            <ns1:ext cx="822960" cy="685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4000" b="1" dirty="0">
                <ns1:solidFill>
                  <ns1:srgbClr val="DC2626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3</ns1:t>
            </ns1:r>
            <ns1:endParaRPr lang="en-US" sz="4000" dirty="0"/>
          </ns1:p>
        </ns0:txBody>
      </ns0:sp>
      <ns0:sp>
        <ns0:nvSpPr>
          <ns0:cNvPr id="17" name="Text 15"/>
          <ns0:cNvSpPr/>
          <ns0:nvPr/>
        </ns0:nvSpPr>
        <ns0:spPr>
          <ns1:xfrm>
            <ns1:off x="8357616" y="2542032"/>
            <ns1:ext cx="3127248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7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重写不自主</ns1:t>
            </ns1:r>
            <ns1:endParaRPr lang="en-US" sz="1700" dirty="0"/>
          </ns1:p>
        </ns0:txBody>
      </ns0:sp>
      <ns0:sp>
        <ns0:nvSpPr>
          <ns0:cNvPr id="18" name="Text 16"/>
          <ns0:cNvSpPr/>
          <ns0:nvPr/>
        </ns0:nvSpPr>
        <ns0:spPr>
          <ns1:xfrm>
            <ns1:off x="8357616" y="2926080"/>
            <ns1:ext cx="3127248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DC2626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存量只做精确修改</ns1:t>
            </ns1:r>
            <ns1:endParaRPr lang="en-US" sz="1200" dirty="0"/>
          </ns1:p>
        </ns0:txBody>
      </ns0:sp>
      <ns0:sp>
        <ns0:nvSpPr>
          <ns0:cNvPr id="19" name="Text 17"/>
          <ns0:cNvSpPr/>
          <ns0:nvPr/>
        </ns0:nvSpPr>
        <ns0:spPr>
          <ns1:xfrm>
            <ns1:off x="8357616" y="3310128"/>
            <ns1:ext cx="3182112" cy="21031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152400" indent="-152400">
              <ns1:spcAft>
                <ns1:spcPts val="800"/>
              </ns1:spcAft>
              <ns1:buSzPct val="100000"/>
              <ns1:buChar char="•"/>
            </ns1:pPr>
            <ns1:r>
              <ns1:rPr lang="en-US" sz="110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已有资产的变更，只做声明的增量改动，绝不推倒重来</ns1:t>
            </ns1:r>
            <ns1:endParaRPr lang="en-US" sz="1100" dirty="0"/>
          </ns1:p>
          <ns1:p>
            <ns1:pPr marL="152400" indent="-152400">
              <ns1:spcAft>
                <ns1:spcPts val="800"/>
              </ns1:spcAft>
              <ns1:buSzPct val="100000"/>
              <ns1:buChar char="•"/>
            </ns1:pPr>
            <ns1:r>
              <ns1:rPr lang="en-US" sz="110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改了什么、没改什么，双向比对出报告，冻结列零差异可验证</ns1:t>
            </ns1:r>
            <ns1:endParaRPr lang="en-US" sz="1100" dirty="0"/>
          </ns1:p>
          <ns1:p>
            <ns1:pPr marL="152400" indent="-152400">
              <ns1:spcAft>
                <ns1:spcPts val="800"/>
              </ns1:spcAft>
              <ns1:buSzPct val="100000"/>
              <ns1:buChar char="•"/>
            </ns1:pPr>
            <ns1:r>
              <ns1:rPr lang="en-US" sz="110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「AI 把我的存量改乱了」这件事在机制上不会发生</ns1:t>
            </ns1:r>
            <ns1:endParaRPr lang="en-US" sz="1100" dirty="0"/>
          </ns1:p>
        </ns0:txBody>
      </ns0:sp>
      <ns0:sp>
        <ns0:nvSpPr>
          <ns0:cNvPr id="20" name="Shape 18"/>
          <ns0:cNvSpPr/>
          <ns0:nvPr/>
        </ns0:nvSpPr>
        <ns0:spPr>
          <ns1:xfrm>
            <ns1:off x="457200" y="5779008"/>
            <ns1:ext cx="11274552" cy="566928"/>
          </ns1:xfrm>
          <ns1:prstGeom prst="roundRect">
            <ns1:avLst>
              <ns1:gd name="adj" fmla="val 12903"/>
            </ns1:avLst>
          </ns1:prstGeom>
          <ns1:solidFill>
            <ns1:srgbClr val="FFFBEB"/>
          </ns1:solidFill>
          <ns1:ln/>
        </ns0:spPr>
      </ns0:sp>
      <ns0:sp>
        <ns0:nvSpPr>
          <ns0:cNvPr id="21" name="Text 19"/>
          <ns0:cNvSpPr/>
          <ns0:nvPr/>
        </ns0:nvSpPr>
        <ns0:spPr>
          <ns1:xfrm>
            <ns1:off x="731520" y="5779008"/>
            <ns1:ext cx="10725912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92400E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一句话：它负责把活干完并自证质量；语义你定、生产你推、存量它不碰。</ns1:t>
            </ns1:r>
            <ns1:r>
              <ns1:rPr lang="en-US" sz="1200" dirty="0">
                <ns1:solidFill>
                  <ns1:srgbClr val="92400E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这三条写在流程机制里，不是提示词里的承诺。</ns1:t>
            </ns1:r>
            <ns1:endParaRPr lang="en-US" sz="1200" dirty="0"/>
          </ns1:p>
        </ns0:txBody>
      </ns0:sp>
      <ns0:sp>
        <ns0:nvSpPr>
          <ns0:cNvPr id="22" name="Text 20"/>
          <ns0:cNvSpPr/>
          <ns0:nvPr/>
        </ns0:nvSpPr>
        <ns0:spPr>
          <ns1:xfrm>
            <ns1:off x="457200" y="6510528"/>
            <ns1:ext cx="27432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设计开发智能体宣讲</ns1:t>
            </ns1:r>
            <ns1:endParaRPr lang="en-US" sz="950" dirty="0"/>
          </ns1:p>
        </ns0:txBody>
      </ns0:sp>
      <ns0:sp>
        <ns0:nvSpPr>
          <ns0:cNvPr id="23" name="Text 21"/>
          <ns0:cNvSpPr/>
          <ns0:nvPr/>
        </ns0:nvSpPr>
        <ns0:spPr>
          <ns1:xfrm>
            <ns1:off x="10360152" y="6510528"/>
            <ns1:ext cx="13716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03 / 10</ns1:t>
            </ns1:r>
            <ns1:endParaRPr lang="en-US" sz="950" dirty="0"/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>
  <ns0:cSld name="Slide 4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457200" y="274320"/>
            <ns1:ext cx="54864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b="1" spc="200" kern="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04 · 设计原理 Ⅱ</ns1:t>
            </ns1:r>
            <ns1:endParaRPr lang="en-US" sz="105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457200" y="530352"/>
            <ns1:ext cx="11274552" cy="502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5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AI 干活，程序质检：它说「通过」，是有证据的通过</ns1:t>
            </ns1:r>
            <ns1:endParaRPr lang="en-US" sz="25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457200" y="1042416"/>
            <ns1:ext cx="11274552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生成者不负责证明自己对——质检全部由确定性脚本完成（不跑大模型，同样输入必得同样结论），证据全部落盘可回溯。</ns1:t>
            </ns1:r>
            <ns1:endParaRPr lang="en-US" sz="12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457200" y="1572768"/>
            <ns1:ext cx="5541264" cy="4023360"/>
          </ns1:xfrm>
          <ns1:prstGeom prst="roundRect">
            <ns1:avLst>
              <ns1:gd name="adj" fmla="val 1591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6" name="Text 4"/>
          <ns0:cNvSpPr/>
          <ns0:nvPr/>
        </ns0:nvSpPr>
        <ns0:spPr>
          <ns1:xfrm>
            <ns1:off x="685800" y="1755648"/>
            <ns1:ext cx="502920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4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确定性质检（每一步都有）</ns1:t>
            </ns1:r>
            <ns1:endParaRPr lang="en-US" sz="1450" dirty="0"/>
          </ns1:p>
        </ns0:txBody>
      </ns0:sp>
      <ns0:sp>
        <ns0:nvSpPr>
          <ns0:cNvPr id="7" name="Text 5"/>
          <ns0:cNvSpPr/>
          <ns0:nvPr/>
        </ns0:nvSpPr>
        <ns0:spPr>
          <ns1:xfrm>
            <ns1:off x="685800" y="2139696"/>
            <ns1:ext cx="5120640" cy="32918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结构校验 ~40 条：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设计文档一落盘就查——引用存在性、增量闭合、口径可解析、别名冲突……不合规直接拦截并指出层级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连库查证：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字段存在性、类型对账、值域探测——读真实数据库，不靠猜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UT 真实执行：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INSERT 跑真库 + 主键/空值/行数实锤 + 执行计划门槛，报告留档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DQ 实跑：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违规行探测器——0 行通过，非 0 行告警并带样例数据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闸口材料 = 脚本产出：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你在闸口看到的摘要和实测结果，是确定性脚本从产物里抽的，不是 AI 转述</ns1:t>
            </ns1:r>
            <ns1:endParaRPr lang="en-US" sz="1150" dirty="0"/>
          </ns1:p>
        </ns0:txBody>
      </ns0:sp>
      <ns0:sp>
        <ns0:nvSpPr>
          <ns0:cNvPr id="8" name="Shape 6"/>
          <ns0:cNvSpPr/>
          <ns0:nvPr/>
        </ns0:nvSpPr>
        <ns0:spPr>
          <ns1:xfrm>
            <ns1:off x="6190488" y="1572768"/>
            <ns1:ext cx="5541264" cy="4023360"/>
          </ns1:xfrm>
          <ns1:prstGeom prst="roundRect">
            <ns1:avLst>
              <ns1:gd name="adj" fmla="val 1591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9" name="Text 7"/>
          <ns0:cNvSpPr/>
          <ns0:nvPr/>
        </ns0:nvSpPr>
        <ns0:spPr>
          <ns1:xfrm>
            <ns1:off x="6419088" y="1755648"/>
            <ns1:ext cx="502920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4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失败分流：UT 失败 ≠ 都丢回程序员</ns1:t>
            </ns1:r>
            <ns1:endParaRPr lang="en-US" sz="1450" dirty="0"/>
          </ns1:p>
        </ns0:txBody>
      </ns0:sp>
      <ns0:sp>
        <ns0:nvSpPr>
          <ns0:cNvPr id="10" name="Text 8"/>
          <ns0:cNvSpPr/>
          <ns0:nvPr/>
        </ns0:nvSpPr>
        <ns0:spPr>
          <ns1:xfrm>
            <ns1:off x="6419088" y="2139696"/>
            <ns1:ext cx="5120640" cy="32918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SQL 语法错 →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恢复编码会话修复，每规则限 3 轮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数据质量问题（主键重复/空值/行数异常）→ </ns1:t>
            </ns1:r>
            <ns1:r>
              <ns1:rPr lang="en-US" sz="1150" b="1" dirty="0">
                <ns1:solidFill>
                  <ns1:srgbClr val="DC2626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绝不给编码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：先跑关联诊断定位，带着证据退回设计层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DQ 告警 →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人判三选：SQL 方向反→改码 / 阈值不合理→改口径 / 数据真脏→修源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环境问题 →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停下报告修复指引，不重试不绕过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全程留痕：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每轮修复的诊断证据都落盘，改了什么、为什么改，全部有据可查</ns1:t>
            </ns1:r>
            <ns1:endParaRPr lang="en-US" sz="115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457200" y="5742432"/>
            <ns1:ext cx="11274552" cy="658368"/>
          </ns1:xfrm>
          <ns1:prstGeom prst="roundRect">
            <ns1:avLst>
              <ns1:gd name="adj" fmla="val 11111"/>
            </ns1:avLst>
          </ns1:prstGeom>
          <ns1:solidFill>
            <ns1:srgbClr val="FEF2F2"/>
          </ns1:solidFill>
          <ns1:ln/>
        </ns0:spPr>
      </ns0:sp>
      <ns0:sp>
        <ns0:nvSpPr>
          <ns0:cNvPr id="12" name="Text 10"/>
          <ns0:cNvSpPr/>
          <ns0:nvPr/>
        </ns0:nvSpPr>
        <ns0:spPr>
          <ns1:xfrm>
            <ns1:off x="731520" y="5742432"/>
            <ns1:ext cx="10725912" cy="658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00" b="1" dirty="0">
                <ns1:solidFill>
                  <ns1:srgbClr val="991B1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为什么数据问题绝不给编码 agent？</ns1:t>
            </ns1:r>
            <ns1:r>
              <ns1:rPr lang="en-US" sz="1100" dirty="0">
                <ns1:solidFill>
                  <ns1:srgbClr val="991B1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真实教训：编码 agent 遇到「主键重复」，会顺手用 ROW_NUMBER 去重「修好」——表面通过，实际关联发散的根因被掩盖，数据悄悄变少。根因在设计层，所以数据问题永远带着证据退设计、回闸口①复审。</ns1:t>
            </ns1:r>
            <ns1:endParaRPr lang="en-US" sz="1100" dirty="0"/>
          </ns1:p>
        </ns0:txBody>
      </ns0:sp>
      <ns0:sp>
        <ns0:nvSpPr>
          <ns0:cNvPr id="13" name="Text 11"/>
          <ns0:cNvSpPr/>
          <ns0:nvPr/>
        </ns0:nvSpPr>
        <ns0:spPr>
          <ns1:xfrm>
            <ns1:off x="457200" y="6510528"/>
            <ns1:ext cx="27432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设计开发智能体宣讲</ns1:t>
            </ns1:r>
            <ns1:endParaRPr lang="en-US" sz="95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10360152" y="6510528"/>
            <ns1:ext cx="13716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04 / 10</ns1:t>
            </ns1:r>
            <ns1:endParaRPr lang="en-US" sz="950" dirty="0"/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powerpoint/2010/main">
  <ns0:cSld name="Slide 5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457200" y="274320"/>
            <ns1:ext cx="54864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b="1" spc="200" kern="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05 · 产出内容 Ⅰ</ns1:t>
            </ns1:r>
            <ns1:endParaRPr lang="en-US" sz="105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457200" y="530352"/>
            <ns1:ext cx="11274552" cy="502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5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你拿到什么：一套制品 + 一座自解释的档案</ns1:t>
            </ns1:r>
            <ns1:endParaRPr lang="en-US" sz="25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457200" y="1042416"/>
            <ns1:ext cx="11274552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每件产物都标了给谁用；目录结构不查文档也一眼看懂——建造现场、资产档案、优化版本各归其位。</ns1:t>
            </ns1:r>
            <ns1:endParaRPr lang="en-US" sz="12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457200" y="1572768"/>
            <ns1:ext cx="6126480" cy="4206240"/>
          </ns1:xfrm>
          <ns1:prstGeom prst="roundRect">
            <ns1:avLst>
              <ns1:gd name="adj" fmla="val 1522"/>
            </ns1:avLst>
          </ns1:prstGeom>
          <ns1:solidFill>
            <ns1:srgbClr val="FFFFFF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6" name="Text 4"/>
          <ns0:cNvSpPr/>
          <ns0:nvPr/>
        </ns0:nvSpPr>
        <ns0:spPr>
          <ns1:xfrm>
            <ns1:off x="685800" y="1737360"/>
            <ns1:ext cx="365760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4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交付清单</ns1:t>
            </ns1:r>
            <ns1:endParaRPr lang="en-US" sz="1450" dirty="0"/>
          </ns1:p>
        </ns0:txBody>
      </ns0:sp>
      <ns0:graphicFrame>
        <ns0:nvGraphicFramePr>
          <ns0:cNvPr id="6" name="Table 0"/>
          <ns0:cNvGraphicFramePr>
            <ns1:graphicFrameLocks noGrp="1"/>
          </ns0:cNvGraphicFramePr>
          <ns0:nvPr>
            <ns0:extLst>
              <ns0:ext uri="{D42A27DB-BD31-4B8C-83A1-F6EECF244321}">
                <ns2:modId val="1579011935"/>
              </ns0:ext>
            </ns0:extLst>
          </ns0:nvPr>
        </ns0:nvGraphicFramePr>
        <ns0:xfrm>
          <ns1:off x="685800" y="2103120"/>
          <ns1:ext cx="5669280" cy="914400"/>
        </ns0:xfrm>
        <ns1:graphic>
          <ns1:graphicData uri="http://schemas.openxmlformats.org/drawingml/2006/table">
            <ns1:tbl>
              <ns1:tblPr/>
              <ns1:tblGrid>
                <ns1:gridCol w="1600200"/>
                <ns1:gridCol w="3017520"/>
                <ns1:gridCol w="1051560"/>
              </ns1:tblGrid>
              <ns1:tr h="47548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b="1" dirty="0">
                          <ns1:solidFill>
                            <ns1:srgbClr val="1E40AF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产物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b="1" dirty="0">
                          <ns1:solidFill>
                            <ns1:srgbClr val="1E40AF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是什么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b="1" dirty="0">
                          <ns1:solidFill>
                            <ns1:srgbClr val="1E40AF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给谁用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EFF6FF"/>
                    </ns1:solidFill>
                  </ns1:tcPr>
                </ns1:tc>
              </ns1:tr>
              <ns1:tr h="47548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b="1" dirty="0">
                          <ns1:solidFill>
                            <ns1:srgbClr val="1E293B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ts.md / ts.json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475569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设计文档：粒度、来源血缘、加工口径、调度、初始化（json 机读权威源，md 人读投影）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475569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评审归档 / 平台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</ns1:tr>
              <ns1:tr h="47548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b="1" dirty="0">
                          <ns1:solidFill>
                            <ns1:srgbClr val="1E293B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create_table_*.sql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475569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建表 + 对外视图 DDL，含中文注释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475569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DBA 执行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</ns1:tr>
              <ns1:tr h="47548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b="1" dirty="0">
                          <ns1:solidFill>
                            <ns1:srgbClr val="1E293B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R0001.sql …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475569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术加 ETL（SELECT），一规则一文件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475569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平台作业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</ns1:tr>
              <ns1:tr h="47548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b="1" dirty="0">
                          <ns1:solidFill>
                            <ns1:srgbClr val="1E293B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dq_*.sql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475569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数据质量检查（跟随 RS，有需求才产）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475569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平台作业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</ns1:tr>
              <ns1:tr h="47548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b="1" dirty="0">
                          <ns1:solidFill>
                            <ns1:srgbClr val="1E293B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ut_report.md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475569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UT 报告：真实执行结果 + 检查结论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475569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验收依据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</ns1:tr>
              <ns1:tr h="47548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b="1" dirty="0">
                          <ns1:solidFill>
                            <ns1:srgbClr val="1E293B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export/*.xlsx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475569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平台制品包（执行任务/调度），UT 通过后才生成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475569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平台导入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</ns1:tr>
            </ns1:tbl>
          </ns1:graphicData>
        </ns1:graphic>
      </ns0:graphicFrame>
      <ns0:sp>
        <ns0:nvSpPr>
          <ns0:cNvPr id="8" name="Shape 5"/>
          <ns0:cNvSpPr/>
          <ns0:nvPr/>
        </ns0:nvSpPr>
        <ns0:spPr>
          <ns1:xfrm>
            <ns1:off x="6812280" y="1572768"/>
            <ns1:ext cx="4919472" cy="4206240"/>
          </ns1:xfrm>
          <ns1:prstGeom prst="roundRect">
            <ns1:avLst>
              <ns1:gd name="adj" fmla="val 1522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9" name="Text 6"/>
          <ns0:cNvSpPr/>
          <ns0:nvPr/>
        </ns0:nvSpPr>
        <ns0:spPr>
          <ns1:xfrm>
            <ns1:off x="7040880" y="1737360"/>
            <ns1:ext cx="448056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4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目录自解释 + 版本可回溯</ns1:t>
            </ns1:r>
            <ns1:endParaRPr lang="en-US" sz="1450" dirty="0"/>
          </ns1:p>
        </ns0:txBody>
      </ns0:sp>
      <ns0:sp>
        <ns0:nvSpPr>
          <ns0:cNvPr id="10" name="Text 7"/>
          <ns0:cNvSpPr/>
          <ns0:nvPr/>
        </ns0:nvSpPr>
        <ns0:spPr>
          <ns1:xfrm>
            <ns1:off x="7040880" y="2121408"/>
            <ns1:ext cx="4526280" cy="21031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spcAft>
                <ns1:spcPts val="400"/>
              </ns1:spcAft>
              <ns1:buNone/>
            </ns1:pPr>
            <ns1:r>
              <ns1:rPr lang="en-US" sz="1050" b="1" dirty="0">
                <ns1:solidFill>
                  <ns1:srgbClr val="1E293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ddlc_design_dev/</ns1:t>
            </ns1:r>
            <ns1:endParaRPr lang="en-US" sz="1050" dirty="0"/>
          </ns1:p>
          <ns1:p>
            <ns1:pPr indent="0" marL="0">
              <ns1:spcAft>
                <ns1:spcPts val="400"/>
              </ns1:spcAft>
              <ns1:buNone/>
            </ns1:pPr>
            <ns1:r>
              <ns1:rPr lang="en-US" sz="10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├─ </ns1:t>
            </ns1:r>
            <ns1:r>
              <ns1:rPr lang="en-US" sz="1050" b="1" dirty="0">
                <ns1:solidFill>
                  <ns1:srgbClr val="2563E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build/</ns1:t>
            </ns1:r>
            <ns1:r>
              <ns1:rPr lang="en-US" sz="10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  建造现场</ns1:t>
            </ns1:r>
            <ns1:endParaRPr lang="en-US" sz="1050" dirty="0"/>
          </ns1:p>
          <ns1:p>
            <ns1:pPr indent="0" marL="0">
              <ns1:spcAft>
                <ns1:spcPts val="400"/>
              </ns1:spcAft>
              <ns1:buNone/>
            </ns1:pPr>
            <ns1:r>
              <ns1:rPr lang="en-US" sz="10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│    ├─ ts.json / ts.md / etl/ / dq/ / ddl/</ns1:t>
            </ns1:r>
            <ns1:endParaRPr lang="en-US" sz="1050" dirty="0"/>
          </ns1:p>
          <ns1:p>
            <ns1:pPr indent="0" marL="0">
              <ns1:spcAft>
                <ns1:spcPts val="400"/>
              </ns1:spcAft>
              <ns1:buNone/>
            </ns1:pPr>
            <ns1:r>
              <ns1:rPr lang="en-US" sz="10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│    ├─ export/（平台制品包）</ns1:t>
            </ns1:r>
            <ns1:endParaRPr lang="en-US" sz="1050" dirty="0"/>
          </ns1:p>
          <ns1:p>
            <ns1:pPr indent="0" marL="0">
              <ns1:spcAft>
                <ns1:spcPts val="400"/>
              </ns1:spcAft>
              <ns1:buNone/>
            </ns1:pPr>
            <ns1:r>
              <ns1:rPr lang="en-US" sz="10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│    └─ _internal/（过程产物：决策、预检、诊断）</ns1:t>
            </ns1:r>
            <ns1:endParaRPr lang="en-US" sz="1050" dirty="0"/>
          </ns1:p>
          <ns1:p>
            <ns1:pPr indent="0" marL="0">
              <ns1:spcAft>
                <ns1:spcPts val="400"/>
              </ns1:spcAft>
              <ns1:buNone/>
            </ns1:pPr>
            <ns1:r>
              <ns1:rPr lang="en-US" sz="10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├─ </ns1:t>
            </ns1:r>
            <ns1:r>
              <ns1:rPr lang="en-US" sz="1050" b="1" dirty="0">
                <ns1:solidFill>
                  <ns1:srgbClr val="059669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archive/</ns1:t>
            </ns1:r>
            <ns1:r>
              <ns1:rPr lang="en-US" sz="10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资产档案 = 当前态唯一真身</ns1:t>
            </ns1:r>
            <ns1:endParaRPr lang="en-US" sz="1050" dirty="0"/>
          </ns1:p>
          <ns1:p>
            <ns1:pPr indent="0" marL="0">
              <ns1:spcAft>
                <ns1:spcPts val="400"/>
              </ns1:spcAft>
              <ns1:buNone/>
            </ns1:pPr>
            <ns1:r>
              <ns1:rPr lang="en-US" sz="10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│    └─ + </ns1:t>
            </ns1:r>
            <ns1:r>
              <ns1:rPr lang="en-US" sz="1050" b="1" dirty="0">
                <ns1:solidFill>
                  <ns1:srgbClr val="1E293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MANIFEST.md</ns1:t>
            </ns1:r>
            <ns1:r>
              <ns1:rPr lang="en-US" sz="10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版本索引</ns1:t>
            </ns1:r>
            <ns1:endParaRPr lang="en-US" sz="1050" dirty="0"/>
          </ns1:p>
          <ns1:p>
            <ns1:pPr indent="0" marL="0">
              <ns1:spcAft>
                <ns1:spcPts val="400"/>
              </ns1:spcAft>
              <ns1:buNone/>
            </ns1:pPr>
            <ns1:r>
              <ns1:rPr lang="en-US" sz="10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└─ </ns1:t>
            </ns1:r>
            <ns1:r>
              <ns1:rPr lang="en-US" sz="1050" b="1" dirty="0">
                <ns1:solidFill>
                  <ns1:srgbClr val="D97706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opt_202609/</ns1:t>
            </ns1:r>
            <ns1:r>
              <ns1:rPr lang="en-US" sz="10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优化版本目录</ns1:t>
            </ns1:r>
            <ns1:endParaRPr lang="en-US" sz="1050" dirty="0"/>
          </ns1:p>
          <ns1:p>
            <ns1:pPr indent="0" marL="0">
              <ns1:spcAft>
                <ns1:spcPts val="400"/>
              </ns1:spcAft>
              <ns1:buNone/>
            </ns1:pPr>
            <ns1:r>
              <ns1:rPr lang="en-US" sz="1050" b="1" dirty="0">
                <ns1:solidFill>
                  <ns1:srgbClr val="1E293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   目录数 = 优化次数，留存不删</ns1:t>
            </ns1:r>
            <ns1:endParaRPr lang="en-US" sz="1050" dirty="0"/>
          </ns1:p>
        </ns0:txBody>
      </ns0:sp>
      <ns0:sp>
        <ns0:nvSpPr>
          <ns0:cNvPr id="11" name="Text 8"/>
          <ns0:cNvSpPr/>
          <ns0:nvPr/>
        </ns0:nvSpPr>
        <ns0:spPr>
          <ns1:xfrm>
            <ns1:off x="7040880" y="4434840"/>
            <ns1:ext cx="4480560" cy="11887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152400" indent="-152400">
              <ns1:spcAft>
                <ns1:spcPts val="700"/>
              </ns1:spcAft>
              <ns1:buSzPct val="100000"/>
              <ns1:buChar char="•"/>
            </ns1:pPr>
            <ns1:r>
              <ns1:rPr lang="en-US" sz="110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闸口②确认后自动建档，档案入 git 白名单，演进史随提交历史可回溯</ns1:t>
            </ns1:r>
            <ns1:endParaRPr lang="en-US" sz="1100" dirty="0"/>
          </ns1:p>
          <ns1:p>
            <ns1:pPr marL="152400" indent="-152400">
              <ns1:spcAft>
                <ns1:spcPts val="700"/>
              </ns1:spcAft>
              <ns1:buSzPct val="100000"/>
              <ns1:buChar char="•"/>
            </ns1:pPr>
            <ns1:r>
              <ns1:rPr lang="en-US" sz="110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_internal/ 全部过程证据：预检、决策、诊断报告落盘——审计与排障都有的翻</ns1:t>
            </ns1:r>
            <ns1:endParaRPr lang="en-US" sz="1100" dirty="0"/>
          </ns1:p>
        </ns0:txBody>
      </ns0:sp>
      <ns0:sp>
        <ns0:nvSpPr>
          <ns0:cNvPr id="12" name="Text 9"/>
          <ns0:cNvSpPr/>
          <ns0:nvPr/>
        </ns0:nvSpPr>
        <ns0:spPr>
          <ns1:xfrm>
            <ns1:off x="457200" y="6510528"/>
            <ns1:ext cx="27432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设计开发智能体宣讲</ns1:t>
            </ns1:r>
            <ns1:endParaRPr lang="en-US" sz="950" dirty="0"/>
          </ns1:p>
        </ns0:txBody>
      </ns0:sp>
      <ns0:sp>
        <ns0:nvSpPr>
          <ns0:cNvPr id="13" name="Text 10"/>
          <ns0:cNvSpPr/>
          <ns0:nvPr/>
        </ns0:nvSpPr>
        <ns0:spPr>
          <ns1:xfrm>
            <ns1:off x="10360152" y="6510528"/>
            <ns1:ext cx="13716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05 / 10</ns1:t>
            </ns1:r>
            <ns1:endParaRPr lang="en-US" sz="950" dirty="0"/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>
  <ns0:cSld name="Slide 6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457200" y="274320"/>
            <ns1:ext cx="54864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b="1" spc="200" kern="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06 · 产出内容 Ⅱ</ns1:t>
            </ns1:r>
            <ns1:endParaRPr lang="en-US" sz="105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457200" y="530352"/>
            <ns1:ext cx="11274552" cy="502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5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真实交付物长什么样（案例：合同 pu 分析表）</ns1:t>
            </ns1:r>
            <ns1:endParaRPr lang="en-US" sz="25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457200" y="1042416"/>
            <ns1:ext cx="11274552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均为真实交付案例 dwl_con_pu_any_f 的文件节选——机器与人看同一份事实：ts.json 权威源，其余全部由它派生。</ns1:t>
            </ns1:r>
            <ns1:endParaRPr lang="en-US" sz="12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457200" y="1554480"/>
            <ns1:ext cx="2743200" cy="4041648"/>
          </ns1:xfrm>
          <ns1:prstGeom prst="roundRect">
            <ns1:avLst>
              <ns1:gd name="adj" fmla="val 2333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6" name="Text 4"/>
          <ns0:cNvSpPr/>
          <ns0:nvPr/>
        </ns0:nvSpPr>
        <ns0:spPr>
          <ns1:xfrm>
            <ns1:off x="585216" y="1645920"/>
            <ns1:ext cx="2487168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① 设计文档 ts.md</ns1:t>
            </ns1:r>
            <ns1:endParaRPr lang="en-US" sz="115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566928" y="1975104"/>
            <ns1:ext cx="2523744" cy="3493008"/>
          </ns1:xfrm>
          <ns1:prstGeom prst="roundRect">
            <ns1:avLst>
              <ns1:gd name="adj" fmla="val 1812"/>
            </ns1:avLst>
          </ns1:prstGeom>
          <ns1:solidFill>
            <ns1:srgbClr val="0F172A"/>
          </ns1:solidFill>
          <ns1:ln/>
        </ns0:spPr>
      </ns0:sp>
      <ns0:sp>
        <ns0:nvSpPr>
          <ns0:cNvPr id="8" name="Text 6"/>
          <ns0:cNvSpPr/>
          <ns0:nvPr/>
        </ns0:nvSpPr>
        <ns0:spPr>
          <ns1:xfrm>
            <ns1:off x="676656" y="2084832"/>
            <ns1:ext cx="2340864" cy="32918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## 1. 概述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F表   fin_dwl_cnb.</ns1:t>
            </ns1:r>
            <ns1:r>
              <ns1:rPr lang="en-US" sz="850" dirty="0">
                <ns1:solidFill>
                  <ns1:srgbClr val="FBBF24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dwl_con_pu_any_f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粒度  每个合同+pu一行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    (contract_id, pu_id)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分布键 contract_id, pu_id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字段  业务12 + 审计4 = 16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来源表：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dwl_con_pu_mtr_f 合同pu指标表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dwl_con_any_f   合同分析表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dwl_inv_mtr_i   发票指标表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dwr_dim_pu_d    pu维表</ns1:t>
            </ns1:r>
            <ns1:endParaRPr lang="en-US" sz="85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3300984" y="1554480"/>
            <ns1:ext cx="2743200" cy="4041648"/>
          </ns1:xfrm>
          <ns1:prstGeom prst="roundRect">
            <ns1:avLst>
              <ns1:gd name="adj" fmla="val 2333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10" name="Text 8"/>
          <ns0:cNvSpPr/>
          <ns0:nvPr/>
        </ns0:nvSpPr>
        <ns0:spPr>
          <ns1:xfrm>
            <ns1:off x="3429000" y="1645920"/>
            <ns1:ext cx="2487168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② 建表 DDL</ns1:t>
            </ns1:r>
            <ns1:endParaRPr lang="en-US" sz="115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3410712" y="1975104"/>
            <ns1:ext cx="2523744" cy="3493008"/>
          </ns1:xfrm>
          <ns1:prstGeom prst="roundRect">
            <ns1:avLst>
              <ns1:gd name="adj" fmla="val 1812"/>
            </ns1:avLst>
          </ns1:prstGeom>
          <ns1:solidFill>
            <ns1:srgbClr val="0F172A"/>
          </ns1:solidFill>
          <ns1:ln/>
        </ns0:spPr>
      </ns0:sp>
      <ns0:sp>
        <ns0:nvSpPr>
          <ns0:cNvPr id="12" name="Text 10"/>
          <ns0:cNvSpPr/>
          <ns0:nvPr/>
        </ns0:nvSpPr>
        <ns0:spPr>
          <ns1:xfrm>
            <ns1:off x="3520440" y="2084832"/>
            <ns1:ext cx="2340864" cy="32918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/* 表名: …dwl_con_pu_any_f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 中文名: 合同pu分析表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 分布键: contract_id,pu_id */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7DD3FC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CREATE TABLE</ns1:t>
            </ns1: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fin_dwl_cnb.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dwl_con_pu_any_f (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contract_id </ns1:t>
            </ns1:r>
            <ns1:r>
              <ns1:rPr lang="en-US" sz="850" dirty="0">
                <ns1:solidFill>
                  <ns1:srgbClr val="86EFAC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NUMERIC</ns1:t>
            </ns1: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,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  /* 合同id */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contract_no </ns1:t>
            </ns1:r>
            <ns1:r>
              <ns1:rPr lang="en-US" sz="850" dirty="0">
                <ns1:solidFill>
                  <ns1:srgbClr val="86EFAC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NVARCHAR(500)</ns1:t>
            </ns1: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,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  /* 合同号 */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equip_org_amt_rmb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  </ns1:t>
            </ns1:r>
            <ns1:r>
              <ns1:rPr lang="en-US" sz="850" dirty="0">
                <ns1:solidFill>
                  <ns1:srgbClr val="86EFAC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NUMERIC(38,10)</ns1:t>
            </ns1: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,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  /* 设备订货rmb金额 */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… 共16字段，含中文注释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);</ns1:t>
            </ns1:r>
            <ns1:endParaRPr lang="en-US" sz="85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6144768" y="1554480"/>
            <ns1:ext cx="2743200" cy="4041648"/>
          </ns1:xfrm>
          <ns1:prstGeom prst="roundRect">
            <ns1:avLst>
              <ns1:gd name="adj" fmla="val 2333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14" name="Text 12"/>
          <ns0:cNvSpPr/>
          <ns0:nvPr/>
        </ns0:nvSpPr>
        <ns0:spPr>
          <ns1:xfrm>
            <ns1:off x="6272784" y="1645920"/>
            <ns1:ext cx="2487168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③ 术加 ETL（SELECT）</ns1:t>
            </ns1:r>
            <ns1:endParaRPr lang="en-US" sz="115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6254496" y="1975104"/>
            <ns1:ext cx="2523744" cy="3493008"/>
          </ns1:xfrm>
          <ns1:prstGeom prst="roundRect">
            <ns1:avLst>
              <ns1:gd name="adj" fmla="val 1812"/>
            </ns1:avLst>
          </ns1:prstGeom>
          <ns1:solidFill>
            <ns1:srgbClr val="0F172A"/>
          </ns1:solidFill>
          <ns1:ln/>
        </ns0:spPr>
      </ns0:sp>
      <ns0:sp>
        <ns0:nvSpPr>
          <ns0:cNvPr id="16" name="Text 14"/>
          <ns0:cNvSpPr/>
          <ns0:nvPr/>
        </ns0:nvSpPr>
        <ns0:spPr>
          <ns1:xfrm>
            <ns1:off x="6364224" y="2084832"/>
            <ns1:ext cx="2340864" cy="32918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/* 来源: 合同pu指标表(主) +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 合同分析/发票/pu维表 */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7DD3FC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WITH</ns1:t>
            </ns1: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afr_inv </ns1:t>
            </ns1:r>
            <ns1:r>
              <ns1:rPr lang="en-US" sz="850" dirty="0">
                <ns1:solidFill>
                  <ns1:srgbClr val="7DD3FC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AS</ns1:t>
            </ns1: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(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-- 非洲发票排除范围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SELECT inv_id, contract_no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FROM dwb_inv_head_i …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), inv_mtr_agg </ns1:t>
            </ns1:r>
            <ns1:r>
              <ns1:rPr lang="en-US" sz="850" dirty="0">
                <ns1:solidFill>
                  <ns1:srgbClr val="7DD3FC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AS</ns1:t>
            </ns1: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(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-- 发票指标预聚合，避免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-- JOIN 发散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… GROUP BY contract_id,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  pu_id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), pu_latest </ns1:t>
            </ns1:r>
            <ns1:r>
              <ns1:rPr lang="en-US" sz="850" dirty="0">
                <ns1:solidFill>
                  <ns1:srgbClr val="7DD3FC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AS</ns1:t>
            </ns1: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( … )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7DD3FC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SELECT</ns1:t>
            </ns1: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… -- 行转列组装宽表</ns1:t>
            </ns1:r>
            <ns1:endParaRPr lang="en-US" sz="850" dirty="0"/>
          </ns1:p>
        </ns0:txBody>
      </ns0:sp>
      <ns0:sp>
        <ns0:nvSpPr>
          <ns0:cNvPr id="17" name="Shape 15"/>
          <ns0:cNvSpPr/>
          <ns0:nvPr/>
        </ns0:nvSpPr>
        <ns0:spPr>
          <ns1:xfrm>
            <ns1:off x="8988552" y="1554480"/>
            <ns1:ext cx="2743200" cy="4041648"/>
          </ns1:xfrm>
          <ns1:prstGeom prst="roundRect">
            <ns1:avLst>
              <ns1:gd name="adj" fmla="val 2333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18" name="Text 16"/>
          <ns0:cNvSpPr/>
          <ns0:nvPr/>
        </ns0:nvSpPr>
        <ns0:spPr>
          <ns1:xfrm>
            <ns1:off x="9116568" y="1645920"/>
            <ns1:ext cx="2487168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④ UT 报告</ns1:t>
            </ns1:r>
            <ns1:endParaRPr lang="en-US" sz="1150" dirty="0"/>
          </ns1:p>
        </ns0:txBody>
      </ns0:sp>
      <ns0:sp>
        <ns0:nvSpPr>
          <ns0:cNvPr id="19" name="Shape 17"/>
          <ns0:cNvSpPr/>
          <ns0:nvPr/>
        </ns0:nvSpPr>
        <ns0:spPr>
          <ns1:xfrm>
            <ns1:off x="9098280" y="1975104"/>
            <ns1:ext cx="2523744" cy="3493008"/>
          </ns1:xfrm>
          <ns1:prstGeom prst="roundRect">
            <ns1:avLst>
              <ns1:gd name="adj" fmla="val 1812"/>
            </ns1:avLst>
          </ns1:prstGeom>
          <ns1:solidFill>
            <ns1:srgbClr val="0F172A"/>
          </ns1:solidFill>
          <ns1:ln/>
        </ns0:spPr>
      </ns0:sp>
      <ns0:sp>
        <ns0:nvSpPr>
          <ns0:cNvPr id="20" name="Text 18"/>
          <ns0:cNvSpPr/>
          <ns0:nvPr/>
        </ns0:nvSpPr>
        <ns0:spPr>
          <ns1:xfrm>
            <ns1:off x="9208008" y="2084832"/>
            <ns1:ext cx="2340864" cy="32918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# 管道测试报告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DDL 执行    </ns1:t>
            </ns1:r>
            <ns1:r>
              <ns1:rPr lang="en-US" sz="850" dirty="0">
                <ns1:solidFill>
                  <ns1:srgbClr val="4ADE80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✓ 全部成功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ETL 执行    </ns1:t>
            </ns1:r>
            <ns1:r>
              <ns1:rPr lang="en-US" sz="850" dirty="0">
                <ns1:solidFill>
                  <ns1:srgbClr val="4ADE80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✓ 成功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表结构验证  </ns1:t>
            </ns1:r>
            <ns1:r>
              <ns1:rPr lang="en-US" sz="850" dirty="0">
                <ns1:solidFill>
                  <ns1:srgbClr val="4ADE80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✓ 17 字段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4ADE80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            与 DDL 一致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64748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检查项：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主键唯一    </ns1:t>
            </ns1:r>
            <ns1:r>
              <ns1:rPr lang="en-US" sz="850" dirty="0">
                <ns1:solidFill>
                  <ns1:srgbClr val="4ADE80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✓ 0 重复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空值检查    </ns1:t>
            </ns1:r>
            <ns1:r>
              <ns1:rPr lang="en-US" sz="850" dirty="0">
                <ns1:solidFill>
                  <ns1:srgbClr val="4ADE80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✓ 通过</ns1:t>
            </ns1:r>
            <ns1:endParaRPr lang="en-US" sz="850" dirty="0"/>
          </ns1:p>
          <ns1:p>
            <ns1:pPr indent="0" marL="0">
              <ns1:spcAft>
                <ns1:spcPts val="100"/>
              </ns1:spcAft>
              <ns1:buNone/>
            </ns1:pPr>
            <ns1:r>
              <ns1:rPr lang="en-US" sz="850" dirty="0">
                <ns1:solidFill>
                  <ns1:srgbClr val="CBD5E1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行数对账    </ns1:t>
            </ns1:r>
            <ns1:r>
              <ns1:rPr lang="en-US" sz="850" dirty="0">
                <ns1:solidFill>
                  <ns1:srgbClr val="4ADE80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✓ 一致</ns1:t>
            </ns1:r>
            <ns1:endParaRPr lang="en-US" sz="850" dirty="0"/>
          </ns1:p>
        </ns0:txBody>
      </ns0:sp>
      <ns0:sp>
        <ns0:nvSpPr>
          <ns0:cNvPr id="21" name="Shape 19"/>
          <ns0:cNvSpPr/>
          <ns0:nvPr/>
        </ns0:nvSpPr>
        <ns0:spPr>
          <ns1:xfrm>
            <ns1:off x="457200" y="5779008"/>
            <ns1:ext cx="11274552" cy="566928"/>
          </ns1:xfrm>
          <ns1:prstGeom prst="roundRect">
            <ns1:avLst>
              <ns1:gd name="adj" fmla="val 12903"/>
            </ns1:avLst>
          </ns1:prstGeom>
          <ns1:solidFill>
            <ns1:srgbClr val="EFF6FF"/>
          </ns1:solidFill>
          <ns1:ln/>
        </ns0:spPr>
      </ns0:sp>
      <ns0:sp>
        <ns0:nvSpPr>
          <ns0:cNvPr id="22" name="Text 20"/>
          <ns0:cNvSpPr/>
          <ns0:nvPr/>
        </ns0:nvSpPr>
        <ns0:spPr>
          <ns1:xfrm>
            <ns1:off x="731520" y="5779008"/>
            <ns1:ext cx="10725912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1E40AF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设计文档不只给人看：</ns1:t>
            </ns1:r>
            <ns1:r>
              <ns1:rPr lang="en-US" sz="1200" dirty="0">
                <ns1:solidFill>
                  <ns1:srgbClr val="1E40AF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粒度、口径、调度全部结构化存在 ts.json 里，后续编码、测试、平台导出、优化都从它派生——改一处，处处一致。</ns1:t>
            </ns1:r>
            <ns1:endParaRPr lang="en-US" sz="1200" dirty="0"/>
          </ns1:p>
        </ns0:txBody>
      </ns0:sp>
      <ns0:sp>
        <ns0:nvSpPr>
          <ns0:cNvPr id="23" name="Text 21"/>
          <ns0:cNvSpPr/>
          <ns0:nvPr/>
        </ns0:nvSpPr>
        <ns0:spPr>
          <ns1:xfrm>
            <ns1:off x="457200" y="6510528"/>
            <ns1:ext cx="27432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设计开发智能体宣讲</ns1:t>
            </ns1:r>
            <ns1:endParaRPr lang="en-US" sz="950" dirty="0"/>
          </ns1:p>
        </ns0:txBody>
      </ns0:sp>
      <ns0:sp>
        <ns0:nvSpPr>
          <ns0:cNvPr id="24" name="Text 22"/>
          <ns0:cNvSpPr/>
          <ns0:nvPr/>
        </ns0:nvSpPr>
        <ns0:spPr>
          <ns1:xfrm>
            <ns1:off x="10360152" y="6510528"/>
            <ns1:ext cx="13716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06 / 10</ns1:t>
            </ns1:r>
            <ns1:endParaRPr lang="en-US" sz="950" dirty="0"/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powerpoint/2010/main">
  <ns0:cSld name="Slide 7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457200" y="274320"/>
            <ns1:ext cx="54864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b="1" spc="200" kern="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07 · 使用方式 Ⅰ</ns1:t>
            </ns1:r>
            <ns1:endParaRPr lang="en-US" sz="105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457200" y="530352"/>
            <ns1:ext cx="11274552" cy="502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5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你要准备什么：两个文件，职责分明</ns1:t>
            </ns1:r>
            <ns1:endParaRPr lang="en-US" sz="25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457200" y="1042416"/>
            <ns1:ext cx="11274552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mapping 管字段映射（体积的 90%），RS 管元数据——都有模板，照着填即可；输入写得越清楚，预检阶段拦下的问题越多。</ns1:t>
            </ns1:r>
            <ns1:endParaRPr lang="en-US" sz="1200" dirty="0"/>
          </ns1:p>
        </ns0:txBody>
      </ns0:sp>
      <ns0:graphicFrame>
        <ns0:nvGraphicFramePr>
          <ns0:cNvPr id="8" name="Table 0"/>
          <ns0:cNvGraphicFramePr>
            <ns1:graphicFrameLocks noGrp="1"/>
          </ns0:cNvGraphicFramePr>
          <ns0:nvPr>
            <ns0:extLst>
              <ns0:ext uri="{D42A27DB-BD31-4B8C-83A1-F6EECF244321}">
                <ns2:modId val="1579011935"/>
              </ns0:ext>
            </ns0:extLst>
          </ns0:nvPr>
        </ns0:nvGraphicFramePr>
        <ns0:xfrm>
          <ns1:off x="457200" y="1517904"/>
          <ns1:ext cx="11274552" cy="914400"/>
        </ns0:xfrm>
        <ns1:graphic>
          <ns1:graphicData uri="http://schemas.openxmlformats.org/drawingml/2006/table">
            <ns1:tbl>
              <ns1:tblPr/>
              <ns1:tblGrid>
                <ns1:gridCol w="1371600"/>
                <ns1:gridCol w="6766560"/>
                <ns1:gridCol w="3136392"/>
              </ns1:tblGrid>
              <ns1:tr h="3657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b="1" dirty="0">
                          <ns1:solidFill>
                            <ns1:srgbClr val="1E40AF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文件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b="1" dirty="0">
                          <ns1:solidFill>
                            <ns1:srgbClr val="1E40AF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你提供什么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b="1" dirty="0">
                          <ns1:solidFill>
                            <ns1:srgbClr val="1E40AF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模板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EFF6FF"/>
                    </ns1:solidFill>
                  </ns1:tcPr>
                </ns1:tc>
              </ns1:tr>
              <ns1:tr h="86868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1E293B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mapping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  <ns1:p>
                      <ns1:pPr indent="0" marL="0">
                        <ns1:buNone/>
                      </ns1:pPr>
                      <ns1:r>
                        <ns1:rPr lang="en-US" sz="950" dirty="0">
                          <ns1:solidFill>
                            <ns1:srgbClr val="64748B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90% 体积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73152" marR="73152" marT="73152" marB="73152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475569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源表清单（实体级）、字段映射全量（源/目标字段名 + 类型 + 中文名）、加工逻辑（人话即可，如「按合同+pu 汇总发票金额，排除非洲发票」）、目标表中文名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b="1" dirty="0">
                          <ns1:solidFill>
                            <ns1:srgbClr val="1E293B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mapping模板.xlsx</ns1:t>
                      </ns1:r>
                      <ns1:r>
                        <ns1:rPr lang="en-US" sz="1050" dirty="0">
                          <ns1:solidFill>
                            <ns1:srgbClr val="64748B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 —— 一行一映射，列头即格式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73152" marR="73152" marT="73152" marB="73152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</ns1:tr>
              <ns1:tr h="86868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1E293B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RS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  <ns1:p>
                      <ns1:pPr indent="0" marL="0">
                        <ns1:buNone/>
                      </ns1:pPr>
                      <ns1:r>
                        <ns1:rPr lang="en-US" sz="950" dirty="0">
                          <ns1:solidFill>
                            <ns1:srgbClr val="64748B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元数据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73152" marR="73152" marT="73152" marB="73152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475569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目标表 schema.table、调度方案/频率/SLA、增量识别方式 + 驱动表 + 增量字段、初始化时间范围、DQ 规则（有需求就写，没有就没有，不强行凑）、数据量级/空值率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54864" marR="54864" marT="54864" marB="54864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b="1" dirty="0">
                          <ns1:solidFill>
                            <ns1:srgbClr val="1E293B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RS模板.md</ns1:t>
                      </ns1:r>
                      <ns1:r>
                        <ns1:rPr lang="en-US" sz="1050" dirty="0">
                          <ns1:solidFill>
                            <ns1:srgbClr val="64748B"/>
                          </ns1:solidFill>
                          <ns1:latin typeface="Microsoft YaHei" pitchFamily="34" charset="0"/>
                          <ns1:ea typeface="Microsoft YaHei" pitchFamily="34" charset="-122"/>
                          <ns1:cs typeface="Microsoft YaHei" pitchFamily="34" charset="-120"/>
                        </ns1:rPr>
                        <ns1:t> —— 分节填空，L1.1/L06/L07 对号入座</ns1:t>
                      </ns1:r>
                      <ns1:endParaRPr lang="en-US" sz="1050" dirty="0">
                        <ns1:latin typeface="Microsoft YaHei" charset="0"/>
                        <ns1:ea typeface="Microsoft YaHei" charset="0"/>
                        <ns1:cs typeface="Microsoft YaHei" charset="0"/>
                      </ns1:endParaRPr>
                    </ns1:p>
                  </ns1:txBody>
                  <ns1:tcPr marL="73152" marR="73152" marT="73152" marB="73152" anchor="ctr">
                    <ns1:lnL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E2E8F0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</ns1:tr>
            </ns1:tbl>
          </ns1:graphicData>
        </ns1:graphic>
      </ns0:graphicFrame>
      <ns0:sp>
        <ns0:nvSpPr>
          <ns0:cNvPr id="6" name="Shape 3"/>
          <ns0:cNvSpPr/>
          <ns0:nvPr/>
        </ns0:nvSpPr>
        <ns0:spPr>
          <ns1:xfrm>
            <ns1:off x="457200" y="3794760"/>
            <ns1:ext cx="5541264" cy="2514600"/>
          </ns1:xfrm>
          <ns1:prstGeom prst="roundRect">
            <ns1:avLst>
              <ns1:gd name="adj" fmla="val 2545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7" name="Text 4"/>
          <ns0:cNvSpPr/>
          <ns0:nvPr/>
        </ns0:nvSpPr>
        <ns0:spPr>
          <ns1:xfrm>
            <ns1:off x="685800" y="3977640"/>
            <ns1:ext cx="502920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4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没有 RS 也能跑</ns1:t>
            </ns1:r>
            <ns1:endParaRPr lang="en-US" sz="1450" dirty="0"/>
          </ns1:p>
        </ns0:txBody>
      </ns0:sp>
      <ns0:sp>
        <ns0:nvSpPr>
          <ns0:cNvPr id="8" name="Text 5"/>
          <ns0:cNvSpPr/>
          <ns0:nvPr/>
        </ns0:nvSpPr>
        <ns0:spPr>
          <ns1:xfrm>
            <ns1:off x="685800" y="4361688"/>
            <ns1:ext cx="5120640" cy="1828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152400" indent="-152400">
              <ns1:spcAft>
                <ns1:spcPts val="8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mapping 独立驱动核心链路，调度/增量/DQ 用默认兜底（全量调度、T+1、无 DQ）</ns1:t>
            </ns1:r>
            <ns1:endParaRPr lang="en-US" sz="1150" dirty="0"/>
          </ns1:p>
          <ns1:p>
            <ns1:pPr marL="152400" indent="-152400">
              <ns1:spcAft>
                <ns1:spcPts val="8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但信息不全，90% 场景建议带上 RS——调度、增量、DQ 的设计质量直接受益</ns1:t>
            </ns1:r>
            <ns1:endParaRPr lang="en-US" sz="1150" dirty="0"/>
          </ns1:p>
          <ns1:p>
            <ns1:pPr marL="152400" indent="-152400">
              <ns1:spcAft>
                <ns1:spcPts val="8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RS 里最容易漏的三样：增量驱动表、初始化时间范围、调度 SLA——漏了它会在闸口来问</ns1:t>
            </ns1:r>
            <ns1:endParaRPr lang="en-US" sz="1150" dirty="0"/>
          </ns1:p>
        </ns0:txBody>
      </ns0:sp>
      <ns0:sp>
        <ns0:nvSpPr>
          <ns0:cNvPr id="9" name="Shape 6"/>
          <ns0:cNvSpPr/>
          <ns0:nvPr/>
        </ns0:nvSpPr>
        <ns0:spPr>
          <ns1:xfrm>
            <ns1:off x="6190488" y="3794760"/>
            <ns1:ext cx="5541264" cy="2514600"/>
          </ns1:xfrm>
          <ns1:prstGeom prst="roundRect">
            <ns1:avLst>
              <ns1:gd name="adj" fmla="val 2545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10" name="Text 7"/>
          <ns0:cNvSpPr/>
          <ns0:nvPr/>
        </ns0:nvSpPr>
        <ns0:spPr>
          <ns1:xfrm>
            <ns1:off x="6419088" y="3977640"/>
            <ns1:ext cx="502920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4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输入铁律：声明宁缺勿错</ns1:t>
            </ns1:r>
            <ns1:endParaRPr lang="en-US" sz="1450" dirty="0"/>
          </ns1:p>
        </ns0:txBody>
      </ns0:sp>
      <ns0:sp>
        <ns0:nvSpPr>
          <ns0:cNvPr id="11" name="Text 8"/>
          <ns0:cNvSpPr/>
          <ns0:nvPr/>
        </ns0:nvSpPr>
        <ns0:spPr>
          <ns1:xfrm>
            <ns1:off x="6419088" y="4361688"/>
            <ns1:ext cx="5120640" cy="18288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152400" indent="-152400">
              <ns1:spcAft>
                <ns1:spcPts val="8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它按声明执行——关联条件声明错了，就错着执行；不确定的条件宁可先不写，问到了再补</ns1:t>
            </ns1:r>
            <ns1:endParaRPr lang="en-US" sz="1150" dirty="0"/>
          </ns1:p>
          <ns1:p>
            <ns1:pPr marL="152400" indent="-152400">
              <ns1:spcAft>
                <ns1:spcPts val="8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映射逻辑拿不准的写「需业务确认」，它会带着问题到闸口来找你，而不是自己编</ns1:t>
            </ns1:r>
            <ns1:endParaRPr lang="en-US" sz="1150" dirty="0"/>
          </ns1:p>
          <ns1:p>
            <ns1:pPr marL="152400" indent="-152400">
              <ns1:spcAft>
                <ns1:spcPts val="8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字段名/类型写错不用怕：预检连库对账，这一步就拦住，进不了设计</ns1:t>
            </ns1:r>
            <ns1:endParaRPr lang="en-US" sz="1150" dirty="0"/>
          </ns1:p>
        </ns0:txBody>
      </ns0:sp>
      <ns0:sp>
        <ns0:nvSpPr>
          <ns0:cNvPr id="12" name="Text 9"/>
          <ns0:cNvSpPr/>
          <ns0:nvPr/>
        </ns0:nvSpPr>
        <ns0:spPr>
          <ns1:xfrm>
            <ns1:off x="457200" y="6510528"/>
            <ns1:ext cx="27432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设计开发智能体宣讲</ns1:t>
            </ns1:r>
            <ns1:endParaRPr lang="en-US" sz="950" dirty="0"/>
          </ns1:p>
        </ns0:txBody>
      </ns0:sp>
      <ns0:sp>
        <ns0:nvSpPr>
          <ns0:cNvPr id="13" name="Text 10"/>
          <ns0:cNvSpPr/>
          <ns0:nvPr/>
        </ns0:nvSpPr>
        <ns0:spPr>
          <ns1:xfrm>
            <ns1:off x="10360152" y="6510528"/>
            <ns1:ext cx="13716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07 / 10</ns1:t>
            </ns1:r>
            <ns1:endParaRPr lang="en-US" sz="950" dirty="0"/>
          </ns1:p>
        </ns0:txBody>
      </ns0:sp>
    </ns0:spTree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>
  <ns0:cSld name="Slide 8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457200" y="274320"/>
            <ns1:ext cx="54864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b="1" spc="200" kern="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08 · 使用方式 Ⅱ</ns1:t>
            </ns1:r>
            <ns1:endParaRPr lang="en-US" sz="105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457200" y="530352"/>
            <ns1:ext cx="11274552" cy="502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5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流程中你做什么、怎么发起：全是选择题，不给开放题</ns1:t>
            </ns1:r>
            <ns1:endParaRPr lang="en-US" sz="25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457200" y="1042416"/>
            <ns1:ext cx="11274552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人的每次出手都被设计成有材料的快速拍板——证据、选项、后果摆在一起，选一个就行。</ns1:t>
            </ns1:r>
            <ns1:endParaRPr lang="en-US" sz="12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457200" y="1572768"/>
            <ns1:ext cx="5541264" cy="4023360"/>
          </ns1:xfrm>
          <ns1:prstGeom prst="roundRect">
            <ns1:avLst>
              <ns1:gd name="adj" fmla="val 1591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6" name="Text 4"/>
          <ns0:cNvSpPr/>
          <ns0:nvPr/>
        </ns0:nvSpPr>
        <ns0:spPr>
          <ns1:xfrm>
            <ns1:off x="685800" y="1755648"/>
            <ns1:ext cx="502920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4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你的出手清单</ns1:t>
            </ns1:r>
            <ns1:endParaRPr lang="en-US" sz="1450" dirty="0"/>
          </ns1:p>
        </ns0:txBody>
      </ns0:sp>
      <ns0:sp>
        <ns0:nvSpPr>
          <ns0:cNvPr id="7" name="Text 5"/>
          <ns0:cNvSpPr/>
          <ns0:nvPr/>
        </ns0:nvSpPr>
        <ns0:spPr>
          <ns1:xfrm>
            <ns1:off x="685800" y="2139696"/>
            <ns1:ext cx="5120640" cy="32918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预检提问（类型/值域/关联键）：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如类型风险三选一——直接复制 / 加安全处理（截取降级）/ 不处理；值域溢出——源端改模型 / 拍板取舍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闸口①：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看设计摘要 + 关联质量实测结果，回答「方向对不对」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闸口②：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看 UT 报告 + DQ 告警样例，确认质量；告警三选——SQL 方向反→改码 / 阈值不合理→改口径 / 数据真脏→修源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每次提问都附证据与后果说明；</ns1:t>
            </ns1: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不答流程就停在这里，没有秘密默认值</ns1:t>
            </ns1:r>
            <ns1:endParaRPr lang="en-US" sz="1150" dirty="0"/>
          </ns1:p>
        </ns0:txBody>
      </ns0:sp>
      <ns0:sp>
        <ns0:nvSpPr>
          <ns0:cNvPr id="8" name="Shape 6"/>
          <ns0:cNvSpPr/>
          <ns0:nvPr/>
        </ns0:nvSpPr>
        <ns0:spPr>
          <ns1:xfrm>
            <ns1:off x="6190488" y="1572768"/>
            <ns1:ext cx="5541264" cy="4023360"/>
          </ns1:xfrm>
          <ns1:prstGeom prst="roundRect">
            <ns1:avLst>
              <ns1:gd name="adj" fmla="val 1591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9" name="Text 7"/>
          <ns0:cNvSpPr/>
          <ns0:nvPr/>
        </ns0:nvSpPr>
        <ns0:spPr>
          <ns1:xfrm>
            <ns1:off x="6419088" y="1755648"/>
            <ns1:ext cx="502920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4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发起与恢复</ns1:t>
            </ns1:r>
            <ns1:endParaRPr lang="en-US" sz="1450" dirty="0"/>
          </ns1:p>
        </ns0:txBody>
      </ns0:sp>
      <ns0:sp>
        <ns0:nvSpPr>
          <ns0:cNvPr id="10" name="Text 8"/>
          <ns0:cNvSpPr/>
          <ns0:nvPr/>
        </ns0:nvSpPr>
        <ns0:spPr>
          <ns1:xfrm>
            <ns1:off x="6419088" y="2139696"/>
            <ns1:ext cx="5120640" cy="32918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手工发起：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/new-pipe + 模式与文件路径（模式：新建 / 优化）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总控对接：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Task 直连编排 agent，参数 = 模式 + 两个文件路径，其余可选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中断恢复：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问题（如源数据修复）处理后凭 task id 续命，从断点继续，不从头重跑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无人值守：</ns1:t>
            </ns1: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non-interactive 模式——闸口不等待、产物留人后审；但人工决策类问题仍会停下问（无安全默认，不代答）</ns1:t>
            </ns1:r>
            <ns1:endParaRPr lang="en-US" sz="115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457200" y="5742432"/>
            <ns1:ext cx="11274552" cy="621792"/>
          </ns1:xfrm>
          <ns1:prstGeom prst="roundRect">
            <ns1:avLst>
              <ns1:gd name="adj" fmla="val 11765"/>
            </ns1:avLst>
          </ns1:prstGeom>
          <ns1:solidFill>
            <ns1:srgbClr val="EFF6FF"/>
          </ns1:solidFill>
          <ns1:ln/>
        </ns0:spPr>
      </ns0:sp>
      <ns0:sp>
        <ns0:nvSpPr>
          <ns0:cNvPr id="12" name="Text 10"/>
          <ns0:cNvSpPr/>
          <ns0:nvPr/>
        </ns0:nvSpPr>
        <ns0:spPr>
          <ns1:xfrm>
            <ns1:off x="731520" y="5742432"/>
            <ns1:ext cx="10725912" cy="6217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1E40AF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内部回路不需要你盯：</ns1:t>
            </ns1:r>
            <ns1:r>
              <ns1:rPr lang="en-US" sz="1200" dirty="0">
                <ns1:solidFill>
                  <ns1:srgbClr val="1E40AF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SQL 修复自动闭环（每规则限 3 轮）、数据问题自动带证据退设计、环境问题停下报告——只有需要「人的判断」的事才会来找你。</ns1:t>
            </ns1:r>
            <ns1:endParaRPr lang="en-US" sz="1200" dirty="0"/>
          </ns1:p>
        </ns0:txBody>
      </ns0:sp>
      <ns0:sp>
        <ns0:nvSpPr>
          <ns0:cNvPr id="13" name="Text 11"/>
          <ns0:cNvSpPr/>
          <ns0:nvPr/>
        </ns0:nvSpPr>
        <ns0:spPr>
          <ns1:xfrm>
            <ns1:off x="457200" y="6510528"/>
            <ns1:ext cx="27432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设计开发智能体宣讲</ns1:t>
            </ns1:r>
            <ns1:endParaRPr lang="en-US" sz="95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10360152" y="6510528"/>
            <ns1:ext cx="13716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08 / 10</ns1:t>
            </ns1:r>
            <ns1:endParaRPr lang="en-US" sz="950" dirty="0"/>
          </ns1:p>
        </ns0:txBody>
      </ns0:sp>
    </ns0:spTree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>
  <ns0:cSld name="Slide 9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457200" y="274320"/>
            <ns1:ext cx="54864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b="1" spc="200" kern="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09 · 注意事项</ns1:t>
            </ns1:r>
            <ns1:endParaRPr lang="en-US" sz="105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457200" y="530352"/>
            <ns1:ext cx="11274552" cy="502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500" b="1" dirty="0">
                <ns1:solidFill>
                  <ns1:srgbClr val="1E293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边界与预期：它强在哪，不承诺什么</ns1:t>
            </ns1:r>
            <ns1:endParaRPr lang="en-US" sz="25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457200" y="1042416"/>
            <ns1:ext cx="11274552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4748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把边界说在前面，用起来才不会失望——它把「做」的活干完并自证质量，「判」的权始终在你。</ns1:t>
            </ns1:r>
            <ns1:endParaRPr lang="en-US" sz="12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457200" y="1572768"/>
            <ns1:ext cx="3639312" cy="3977640"/>
          </ns1:xfrm>
          <ns1:prstGeom prst="roundRect">
            <ns1:avLst>
              <ns1:gd name="adj" fmla="val 1759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6" name="Text 4"/>
          <ns0:cNvSpPr/>
          <ns0:nvPr/>
        </ns0:nvSpPr>
        <ns0:spPr>
          <ns1:xfrm>
            <ns1:off x="713232" y="1810512"/>
            <ns1:ext cx="3127248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700" b="1" dirty="0">
                <ns1:solidFill>
                  <ns1:srgbClr val="2563EB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它不做什么</ns1:t>
            </ns1:r>
            <ns1:endParaRPr lang="en-US" sz="1700" dirty="0"/>
          </ns1:p>
        </ns0:txBody>
      </ns0:sp>
      <ns0:sp>
        <ns0:nvSpPr>
          <ns0:cNvPr id="7" name="Text 5"/>
          <ns0:cNvSpPr/>
          <ns0:nvPr/>
        </ns0:nvSpPr>
        <ns0:spPr>
          <ns1:xfrm>
            <ns1:off x="713232" y="2304288"/>
            <ns1:ext cx="3182112" cy="3017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不替你定业务语义：粒度、主键、关联收敛——材料给你，你拍板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不推生产：制品到档案为止，上线动作永远是人的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不重写存量：只精确修改，改了什么可验证</ns1:t>
            </ns1:r>
            <ns1:endParaRPr lang="en-US" sz="1150" dirty="0"/>
          </ns1:p>
        </ns0:txBody>
      </ns0:sp>
      <ns0:sp>
        <ns0:nvSpPr>
          <ns0:cNvPr id="8" name="Shape 6"/>
          <ns0:cNvSpPr/>
          <ns0:nvPr/>
        </ns0:nvSpPr>
        <ns0:spPr>
          <ns1:xfrm>
            <ns1:off x="4279392" y="1572768"/>
            <ns1:ext cx="3639312" cy="3977640"/>
          </ns1:xfrm>
          <ns1:prstGeom prst="roundRect">
            <ns1:avLst>
              <ns1:gd name="adj" fmla="val 1759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9" name="Text 7"/>
          <ns0:cNvSpPr/>
          <ns0:nvPr/>
        </ns0:nvSpPr>
        <ns0:spPr>
          <ns1:xfrm>
            <ns1:off x="4535424" y="1810512"/>
            <ns1:ext cx="3127248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700" b="1" dirty="0">
                <ns1:solidFill>
                  <ns1:srgbClr val="D97706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输入决定输出</ns1:t>
            </ns1:r>
            <ns1:endParaRPr lang="en-US" sz="1700" dirty="0"/>
          </ns1:p>
        </ns0:txBody>
      </ns0:sp>
      <ns0:sp>
        <ns0:nvSpPr>
          <ns0:cNvPr id="10" name="Text 8"/>
          <ns0:cNvSpPr/>
          <ns0:nvPr/>
        </ns0:nvSpPr>
        <ns0:spPr>
          <ns1:xfrm>
            <ns1:off x="4535424" y="2304288"/>
            <ns1:ext cx="3182112" cy="3017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声明条件宁缺勿错——它按声明执行，声明错就错着执行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RS 元数据段（调度/增量/驱动表）要准，这层错会直接进设计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源表数据脏是失败的最大概率归宿：正确反应是修输入重跑，不是让它改 SQL 掩盖</ns1:t>
            </ns1:r>
            <ns1:endParaRPr lang="en-US" sz="115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8101584" y="1572768"/>
            <ns1:ext cx="3639312" cy="3977640"/>
          </ns1:xfrm>
          <ns1:prstGeom prst="roundRect">
            <ns1:avLst>
              <ns1:gd name="adj" fmla="val 1759"/>
            </ns1:avLst>
          </ns1:prstGeom>
          <ns1:solidFill>
            <ns1:srgbClr val="F8FAFC"/>
          </ns1:solidFill>
          <ns1:ln w="12700">
            <ns1:solidFill>
              <ns1:srgbClr val="E2E8F0"/>
            </ns1:solidFill>
            <ns1:prstDash val="solid"/>
          </ns1:ln>
          <ns1:effectLst>
            <ns1:outerShdw sx="100000" sy="100000" kx="0" ky="0" algn="bl" rotWithShape="0" blurRad="88900" dist="25400" dir="5400000">
              <ns1:srgbClr val="64748B">
                <ns1:alpha val="18000"/>
              </ns1:srgbClr>
            </ns1:outerShdw>
          </ns1:effectLst>
        </ns0:spPr>
      </ns0:sp>
      <ns0:sp>
        <ns0:nvSpPr>
          <ns0:cNvPr id="12" name="Text 10"/>
          <ns0:cNvSpPr/>
          <ns0:nvPr/>
        </ns0:nvSpPr>
        <ns0:spPr>
          <ns1:xfrm>
            <ns1:off x="8357616" y="1810512"/>
            <ns1:ext cx="3127248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700" b="1" dirty="0">
                <ns1:solidFill>
                  <ns1:srgbClr val="0596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诚实披露</ns1:t>
            </ns1:r>
            <ns1:endParaRPr lang="en-US" sz="1700" dirty="0"/>
          </ns1:p>
        </ns0:txBody>
      </ns0:sp>
      <ns0:sp>
        <ns0:nvSpPr>
          <ns0:cNvPr id="13" name="Text 11"/>
          <ns0:cNvSpPr/>
          <ns0:nvPr/>
        </ns0:nvSpPr>
        <ns0:spPr>
          <ns1:xfrm>
            <ns1:off x="8357616" y="2304288"/>
            <ns1:ext cx="3182112" cy="3017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UT 零告警 = 当前数据上通过，≠ 阈值永远合理——数据分布变了告警口径可能要调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优化场景存量语义不补（主键/粒度留空走豁免，双跑兜底）</ns1:t>
            </ns1:r>
            <ns1:endParaRPr lang="en-US" sz="1150" dirty="0"/>
          </ns1:p>
          <ns1:p>
            <ns1:pPr marL="152400" indent="-152400">
              <ns1:spcAft>
                <ns1:spcPts val="900"/>
              </ns1:spcAft>
              <ns1:buSzPct val="100000"/>
              <ns1:buChar char="•"/>
            </ns1:pPr>
            <ns1:r>
              <ns1:rPr lang="en-US" sz="11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环境有前提：目标库连库配置就绪；部署环境不向流程暴露无关的数据库连接（避免它连错库得出错误结论）</ns1:t>
            </ns1:r>
            <ns1:endParaRPr lang="en-US" sz="1150" dirty="0"/>
          </ns1:p>
        </ns0:txBody>
      </ns0:sp>
      <ns0:sp>
        <ns0:nvSpPr>
          <ns0:cNvPr id="14" name="Shape 12"/>
          <ns0:cNvSpPr/>
          <ns0:nvPr/>
        </ns0:nvSpPr>
        <ns0:spPr>
          <ns1:xfrm>
            <ns1:off x="457200" y="5779008"/>
            <ns1:ext cx="11274552" cy="566928"/>
          </ns1:xfrm>
          <ns1:prstGeom prst="roundRect">
            <ns1:avLst>
              <ns1:gd name="adj" fmla="val 12903"/>
            </ns1:avLst>
          </ns1:prstGeom>
          <ns1:solidFill>
            <ns1:srgbClr val="FFFBEB"/>
          </ns1:solidFill>
          <ns1:ln/>
        </ns0:spPr>
      </ns0:sp>
      <ns0:sp>
        <ns0:nvSpPr>
          <ns0:cNvPr id="15" name="Text 13"/>
          <ns0:cNvSpPr/>
          <ns0:nvPr/>
        </ns0:nvSpPr>
        <ns0:spPr>
          <ns1:xfrm>
            <ns1:off x="731520" y="5779008"/>
            <ns1:ext cx="10725912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92400E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期望管理一句话：它是「证据充分的助手」，不是「免责的黑盒」</ns1:t>
            </ns1:r>
            <ns1:r>
              <ns1:rPr lang="en-US" sz="1200" dirty="0">
                <ns1:solidFill>
                  <ns1:srgbClr val="92400E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——每个结论都能翻到落盘的证据，每个判断点都留在你手里。</ns1:t>
            </ns1:r>
            <ns1:endParaRPr lang="en-US" sz="1200" dirty="0"/>
          </ns1:p>
        </ns0:txBody>
      </ns0:sp>
      <ns0:sp>
        <ns0:nvSpPr>
          <ns0:cNvPr id="16" name="Text 14"/>
          <ns0:cNvSpPr/>
          <ns0:nvPr/>
        </ns0:nvSpPr>
        <ns0:spPr>
          <ns1:xfrm>
            <ns1:off x="457200" y="6510528"/>
            <ns1:ext cx="27432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设计开发智能体宣讲</ns1:t>
            </ns1:r>
            <ns1:endParaRPr lang="en-US" sz="950" dirty="0"/>
          </ns1:p>
        </ns0:txBody>
      </ns0:sp>
      <ns0:sp>
        <ns0:nvSpPr>
          <ns0:cNvPr id="17" name="Text 15"/>
          <ns0:cNvSpPr/>
          <ns0:nvPr/>
        </ns0:nvSpPr>
        <ns0:spPr>
          <ns1:xfrm>
            <ns1:off x="10360152" y="6510528"/>
            <ns1:ext cx="13716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en-US" sz="95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09 / 10</ns1:t>
            </ns1:r>
            <ns1:endParaRPr lang="en-US" sz="950" dirty="0"/>
          </ns1:p>
        </ns0:txBody>
      </ns0:sp>
    </ns0:spTree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>
  <ns0:cSld name="Slide 10">
    <ns0:bg>
      <ns0:bgPr>
        <ns1:solidFill>
          <ns1:srgbClr val="0F172A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457200" y="274320"/>
            <ns1:ext cx="54864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b="1" spc="200" kern="0" dirty="0">
                <ns1:solidFill>
                  <ns1:srgbClr val="60A5FA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10 · 收尾</ns1:t>
            </ns1:r>
            <ns1:endParaRPr lang="en-US" sz="105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457200" y="530352"/>
            <ns1:ext cx="11274552" cy="502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500" b="1" dirty="0">
                <ns1:solidFill>
                  <ns1:srgbClr val="FFFFFF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成绩单与上手三步</ns1:t>
            </ns1:r>
            <ns1:endParaRPr lang="en-US" sz="25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457200" y="1042416"/>
            <ns1:ext cx="11274552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质量不是口号，是数字与机制；上手不需要培训课，两个模板 + 一个小表即可开跑。</ns1:t>
            </ns1:r>
            <ns1:endParaRPr lang="en-US" sz="12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457200" y="1600200"/>
            <ns1:ext cx="2743200" cy="1417320"/>
          </ns1:xfrm>
          <ns1:prstGeom prst="roundRect">
            <ns1:avLst>
              <ns1:gd name="adj" fmla="val 5161"/>
            </ns1:avLst>
          </ns1:prstGeom>
          <ns1:solidFill>
            <ns1:srgbClr val="1E293B"/>
          </ns1:solidFill>
          <ns1:ln w="12700">
            <ns1:solidFill>
              <ns1:srgbClr val="334155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457200" y="1600200"/>
            <ns1:ext cx="2743200" cy="1417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spcAft>
                <ns1:spcPts val="300"/>
              </ns1:spcAft>
              <ns1:buNone/>
            </ns1:pPr>
            <ns1:r>
              <ns1:rPr lang="en-US" sz="3600" b="1" dirty="0">
                <ns1:solidFill>
                  <ns1:srgbClr val="60A5FA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1310</ns1:t>
            </ns1:r>
            <ns1:endParaRPr lang="en-US" sz="360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1200" b="1" dirty="0">
                <ns1:solidFill>
                  <ns1:srgbClr val="E2E8F0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项自动化测试</ns1:t>
            </ns1:r>
            <ns1:endParaRPr lang="en-US" sz="360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100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流程校验全量回归</ns1:t>
            </ns1:r>
            <ns1:endParaRPr lang="en-US" sz="36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3300984" y="1600200"/>
            <ns1:ext cx="2743200" cy="1417320"/>
          </ns1:xfrm>
          <ns1:prstGeom prst="roundRect">
            <ns1:avLst>
              <ns1:gd name="adj" fmla="val 5161"/>
            </ns1:avLst>
          </ns1:prstGeom>
          <ns1:solidFill>
            <ns1:srgbClr val="1E293B"/>
          </ns1:solidFill>
          <ns1:ln w="12700">
            <ns1:solidFill>
              <ns1:srgbClr val="334155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3300984" y="1600200"/>
            <ns1:ext cx="2743200" cy="1417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spcAft>
                <ns1:spcPts val="300"/>
              </ns1:spcAft>
              <ns1:buNone/>
            </ns1:pPr>
            <ns1:r>
              <ns1:rPr lang="en-US" sz="3600" b="1" dirty="0">
                <ns1:solidFill>
                  <ns1:srgbClr val="60A5FA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~40</ns1:t>
            </ns1:r>
            <ns1:endParaRPr lang="en-US" sz="360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1200" b="1" dirty="0">
                <ns1:solidFill>
                  <ns1:srgbClr val="E2E8F0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条设计结构校验</ns1:t>
            </ns1:r>
            <ns1:endParaRPr lang="en-US" sz="360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100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落盘即查 · 分五层报错</ns1:t>
            </ns1:r>
            <ns1:endParaRPr lang="en-US" sz="36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6144768" y="1600200"/>
            <ns1:ext cx="2743200" cy="1417320"/>
          </ns1:xfrm>
          <ns1:prstGeom prst="roundRect">
            <ns1:avLst>
              <ns1:gd name="adj" fmla="val 5161"/>
            </ns1:avLst>
          </ns1:prstGeom>
          <ns1:solidFill>
            <ns1:srgbClr val="1E293B"/>
          </ns1:solidFill>
          <ns1:ln w="12700">
            <ns1:solidFill>
              <ns1:srgbClr val="334155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6144768" y="1600200"/>
            <ns1:ext cx="2743200" cy="1417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spcAft>
                <ns1:spcPts val="300"/>
              </ns1:spcAft>
              <ns1:buNone/>
            </ns1:pPr>
            <ns1:r>
              <ns1:rPr lang="en-US" sz="3600" b="1" dirty="0">
                <ns1:solidFill>
                  <ns1:srgbClr val="60A5FA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12</ns1:t>
            </ns1:r>
            <ns1:endParaRPr lang="en-US" sz="360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1200" b="1" dirty="0">
                <ns1:solidFill>
                  <ns1:srgbClr val="E2E8F0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个评测案例跑通</ns1:t>
            </ns1:r>
            <ns1:endParaRPr lang="en-US" sz="360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100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宽表/拉链/增量/聚合</ns1:t>
            </ns1:r>
            <ns1:endParaRPr lang="en-US" sz="36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8988552" y="1600200"/>
            <ns1:ext cx="2743200" cy="1417320"/>
          </ns1:xfrm>
          <ns1:prstGeom prst="roundRect">
            <ns1:avLst>
              <ns1:gd name="adj" fmla="val 5161"/>
            </ns1:avLst>
          </ns1:prstGeom>
          <ns1:solidFill>
            <ns1:srgbClr val="1E293B"/>
          </ns1:solidFill>
          <ns1:ln w="12700">
            <ns1:solidFill>
              <ns1:srgbClr val="334155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8988552" y="1600200"/>
            <ns1:ext cx="2743200" cy="1417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spcAft>
                <ns1:spcPts val="300"/>
              </ns1:spcAft>
              <ns1:buNone/>
            </ns1:pPr>
            <ns1:r>
              <ns1:rPr lang="en-US" sz="3600" b="1" dirty="0">
                <ns1:solidFill>
                  <ns1:srgbClr val="60A5FA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2</ns1:t>
            </ns1:r>
            <ns1:endParaRPr lang="en-US" sz="360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1200" b="1" dirty="0">
                <ns1:solidFill>
                  <ns1:srgbClr val="E2E8F0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处人工闸口</ns1:t>
            </ns1:r>
            <ns1:endParaRPr lang="en-US" sz="3600" dirty="0"/>
          </ns1:p>
          <ns1:p>
            <ns1:pPr algn="ctr" indent="0" marL="0">
              <ns1:spcAft>
                <ns1:spcPts val="300"/>
              </ns1:spcAft>
              <ns1:buNone/>
            </ns1:pPr>
            <ns1:r>
              <ns1:rPr lang="en-US" sz="100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设计方向 + 编码质量</ns1:t>
            </ns1:r>
            <ns1:endParaRPr lang="en-US" sz="360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457200" y="3337560"/>
            <ns1:ext cx="3639312" cy="2240280"/>
          </ns1:xfrm>
          <ns1:prstGeom prst="roundRect">
            <ns1:avLst>
              <ns1:gd name="adj" fmla="val 3265"/>
            </ns1:avLst>
          </ns1:prstGeom>
          <ns1:solidFill>
            <ns1:srgbClr val="1E293B"/>
          </ns1:solidFill>
          <ns1:ln w="12700">
            <ns1:solidFill>
              <ns1:srgbClr val="334155"/>
            </ns1:solidFill>
            <ns1:prstDash val="solid"/>
          </ns1:ln>
        </ns0:spPr>
      </ns0:sp>
      <ns0:sp>
        <ns0:nvSpPr>
          <ns0:cNvPr id="14" name="Shape 12"/>
          <ns0:cNvSpPr/>
          <ns0:nvPr/>
        </ns0:nvSpPr>
        <ns0:spPr>
          <ns1:xfrm>
            <ns1:off x="713232" y="3584448"/>
            <ns1:ext cx="384048" cy="384048"/>
          </ns1:xfrm>
          <ns1:prstGeom prst="ellipse">
            <ns1:avLst/>
          </ns1:prstGeom>
          <ns1:solidFill>
            <ns1:srgbClr val="2563EB"/>
          </ns1:solidFill>
          <ns1:ln/>
        </ns0:spPr>
      </ns0:sp>
      <ns0:sp>
        <ns0:nvSpPr>
          <ns0:cNvPr id="15" name="Text 13"/>
          <ns0:cNvSpPr/>
          <ns0:nvPr/>
        </ns0:nvSpPr>
        <ns0:spPr>
          <ns1:xfrm>
            <ns1:off x="713232" y="3566160"/>
            <ns1:ext cx="384048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600" b="1" dirty="0">
                <ns1:solidFill>
                  <ns1:srgbClr val="FFFFFF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1</ns1:t>
            </ns1:r>
            <ns1:endParaRPr lang="en-US" sz="1600" dirty="0"/>
          </ns1:p>
        </ns0:txBody>
      </ns0:sp>
      <ns0:sp>
        <ns0:nvSpPr>
          <ns0:cNvPr id="16" name="Text 14"/>
          <ns0:cNvSpPr/>
          <ns0:nvPr/>
        </ns0:nvSpPr>
        <ns0:spPr>
          <ns1:xfrm>
            <ns1:off x="1234440" y="3602736"/>
            <ns1:ext cx="2633472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550" b="1" dirty="0">
                <ns1:solidFill>
                  <ns1:srgbClr val="FFFFFF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拿模板</ns1:t>
            </ns1:r>
            <ns1:endParaRPr lang="en-US" sz="1550" dirty="0"/>
          </ns1:p>
        </ns0:txBody>
      </ns0:sp>
      <ns0:sp>
        <ns0:nvSpPr>
          <ns0:cNvPr id="17" name="Text 15"/>
          <ns0:cNvSpPr/>
          <ns0:nvPr/>
        </ns0:nvSpPr>
        <ns0:spPr>
          <ns1:xfrm>
            <ns1:off x="713232" y="4133088"/>
            <ns1:ext cx="3127248" cy="1325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spcAft>
                <ns1:spcPts val="600"/>
              </ns1:spcAft>
              <ns1:buNone/>
            </ns1:pPr>
            <ns1:r>
              <ns1:rPr lang="en-US" sz="110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找我们要 RS 模板（.md）和 mapping 模板（.xlsx），按列头填空；第一次挑一个来源简单的小表——别一上来就啃最复杂的宽表。</ns1:t>
            </ns1:r>
            <ns1:endParaRPr lang="en-US" sz="110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4279392" y="3337560"/>
            <ns1:ext cx="3639312" cy="2240280"/>
          </ns1:xfrm>
          <ns1:prstGeom prst="roundRect">
            <ns1:avLst>
              <ns1:gd name="adj" fmla="val 3265"/>
            </ns1:avLst>
          </ns1:prstGeom>
          <ns1:solidFill>
            <ns1:srgbClr val="1E293B"/>
          </ns1:solidFill>
          <ns1:ln w="12700">
            <ns1:solidFill>
              <ns1:srgbClr val="334155"/>
            </ns1:solidFill>
            <ns1:prstDash val="solid"/>
          </ns1:ln>
        </ns0:spPr>
      </ns0:sp>
      <ns0:sp>
        <ns0:nvSpPr>
          <ns0:cNvPr id="19" name="Shape 17"/>
          <ns0:cNvSpPr/>
          <ns0:nvPr/>
        </ns0:nvSpPr>
        <ns0:spPr>
          <ns1:xfrm>
            <ns1:off x="4535424" y="3584448"/>
            <ns1:ext cx="384048" cy="384048"/>
          </ns1:xfrm>
          <ns1:prstGeom prst="ellipse">
            <ns1:avLst/>
          </ns1:prstGeom>
          <ns1:solidFill>
            <ns1:srgbClr val="2563EB"/>
          </ns1:solidFill>
          <ns1:ln/>
        </ns0:spPr>
      </ns0:sp>
      <ns0:sp>
        <ns0:nvSpPr>
          <ns0:cNvPr id="20" name="Text 18"/>
          <ns0:cNvSpPr/>
          <ns0:nvPr/>
        </ns0:nvSpPr>
        <ns0:spPr>
          <ns1:xfrm>
            <ns1:off x="4535424" y="3566160"/>
            <ns1:ext cx="384048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600" b="1" dirty="0">
                <ns1:solidFill>
                  <ns1:srgbClr val="FFFFFF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2</ns1:t>
            </ns1:r>
            <ns1:endParaRPr lang="en-US" sz="1600" dirty="0"/>
          </ns1:p>
        </ns0:txBody>
      </ns0:sp>
      <ns0:sp>
        <ns0:nvSpPr>
          <ns0:cNvPr id="21" name="Text 19"/>
          <ns0:cNvSpPr/>
          <ns0:nvPr/>
        </ns0:nvSpPr>
        <ns0:spPr>
          <ns1:xfrm>
            <ns1:off x="5056632" y="3602736"/>
            <ns1:ext cx="2633472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550" b="1" dirty="0">
                <ns1:solidFill>
                  <ns1:srgbClr val="FFFFFF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发起</ns1:t>
            </ns1:r>
            <ns1:endParaRPr lang="en-US" sz="1550" dirty="0"/>
          </ns1:p>
        </ns0:txBody>
      </ns0:sp>
      <ns0:sp>
        <ns0:nvSpPr>
          <ns0:cNvPr id="22" name="Text 20"/>
          <ns0:cNvSpPr/>
          <ns0:nvPr/>
        </ns0:nvSpPr>
        <ns0:spPr>
          <ns1:xfrm>
            <ns1:off x="4535424" y="4133088"/>
            <ns1:ext cx="3127248" cy="1325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spcAft>
                <ns1:spcPts val="600"/>
              </ns1:spcAft>
              <ns1:buNone/>
            </ns1:pPr>
            <ns1:r>
              <ns1:rPr lang="en-US" sz="110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手工 /new-pipe 给模式 + 两个文件路径；或接入总控由平台直连发起。发起后先看预检报告——大多数输入问题在这一步就暴露。</ns1:t>
            </ns1:r>
            <ns1:endParaRPr lang="en-US" sz="1100" dirty="0"/>
          </ns1:p>
        </ns0:txBody>
      </ns0:sp>
      <ns0:sp>
        <ns0:nvSpPr>
          <ns0:cNvPr id="23" name="Shape 21"/>
          <ns0:cNvSpPr/>
          <ns0:nvPr/>
        </ns0:nvSpPr>
        <ns0:spPr>
          <ns1:xfrm>
            <ns1:off x="8101584" y="3337560"/>
            <ns1:ext cx="3639312" cy="2240280"/>
          </ns1:xfrm>
          <ns1:prstGeom prst="roundRect">
            <ns1:avLst>
              <ns1:gd name="adj" fmla="val 3265"/>
            </ns1:avLst>
          </ns1:prstGeom>
          <ns1:solidFill>
            <ns1:srgbClr val="1E293B"/>
          </ns1:solidFill>
          <ns1:ln w="12700">
            <ns1:solidFill>
              <ns1:srgbClr val="334155"/>
            </ns1:solidFill>
            <ns1:prstDash val="solid"/>
          </ns1:ln>
        </ns0:spPr>
      </ns0:sp>
      <ns0:sp>
        <ns0:nvSpPr>
          <ns0:cNvPr id="24" name="Shape 22"/>
          <ns0:cNvSpPr/>
          <ns0:nvPr/>
        </ns0:nvSpPr>
        <ns0:spPr>
          <ns1:xfrm>
            <ns1:off x="8357616" y="3584448"/>
            <ns1:ext cx="384048" cy="384048"/>
          </ns1:xfrm>
          <ns1:prstGeom prst="ellipse">
            <ns1:avLst/>
          </ns1:prstGeom>
          <ns1:solidFill>
            <ns1:srgbClr val="2563EB"/>
          </ns1:solidFill>
          <ns1:ln/>
        </ns0:spPr>
      </ns0:sp>
      <ns0:sp>
        <ns0:nvSpPr>
          <ns0:cNvPr id="25" name="Text 23"/>
          <ns0:cNvSpPr/>
          <ns0:nvPr/>
        </ns0:nvSpPr>
        <ns0:spPr>
          <ns1:xfrm>
            <ns1:off x="8357616" y="3566160"/>
            <ns1:ext cx="384048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600" b="1" dirty="0">
                <ns1:solidFill>
                  <ns1:srgbClr val="FFFFFF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3</ns1:t>
            </ns1:r>
            <ns1:endParaRPr lang="en-US" sz="1600" dirty="0"/>
          </ns1:p>
        </ns0:txBody>
      </ns0:sp>
      <ns0:sp>
        <ns0:nvSpPr>
          <ns0:cNvPr id="26" name="Text 24"/>
          <ns0:cNvSpPr/>
          <ns0:nvPr/>
        </ns0:nvSpPr>
        <ns0:spPr>
          <ns1:xfrm>
            <ns1:off x="8878824" y="3602736"/>
            <ns1:ext cx="2633472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550" b="1" dirty="0">
                <ns1:solidFill>
                  <ns1:srgbClr val="FFFFFF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两处拍板</ns1:t>
            </ns1:r>
            <ns1:endParaRPr lang="en-US" sz="1550" dirty="0"/>
          </ns1:p>
        </ns0:txBody>
      </ns0:sp>
      <ns0:sp>
        <ns0:nvSpPr>
          <ns0:cNvPr id="27" name="Text 25"/>
          <ns0:cNvSpPr/>
          <ns0:nvPr/>
        </ns0:nvSpPr>
        <ns0:spPr>
          <ns1:xfrm>
            <ns1:off x="8357616" y="4133088"/>
            <ns1:ext cx="3127248" cy="1325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spcAft>
                <ns1:spcPts val="600"/>
              </ns1:spcAft>
              <ns1:buNone/>
            </ns1:pPr>
            <ns1:r>
              <ns1:rPr lang="en-US" sz="1100" dirty="0">
                <ns1:solidFill>
                  <ns1:srgbClr val="94A3B8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闸口①确认设计方向，闸口②确认编码质量，中间它自己跑测试、自己闭环修复。拿走四件套 + 档案。</ns1:t>
            </ns1:r>
            <ns1:endParaRPr lang="en-US" sz="1100" dirty="0"/>
          </ns1:p>
        </ns0:txBody>
      </ns0:sp>
      <ns0:sp>
        <ns0:nvSpPr>
          <ns0:cNvPr id="28" name="Shape 26"/>
          <ns0:cNvSpPr/>
          <ns0:nvPr/>
        </ns0:nvSpPr>
        <ns0:spPr>
          <ns1:xfrm>
            <ns1:off x="457200" y="5852160"/>
            <ns1:ext cx="11274552" cy="548640"/>
          </ns1:xfrm>
          <ns1:prstGeom prst="roundRect">
            <ns1:avLst>
              <ns1:gd name="adj" fmla="val 13333"/>
            </ns1:avLst>
          </ns1:prstGeom>
          <ns1:solidFill>
            <ns1:srgbClr val="1E3A8A"/>
          </ns1:solidFill>
          <ns1:ln/>
        </ns0:spPr>
      </ns0:sp>
      <ns0:sp>
        <ns0:nvSpPr>
          <ns0:cNvPr id="29" name="Text 27"/>
          <ns0:cNvSpPr/>
          <ns0:nvPr/>
        </ns0:nvSpPr>
        <ns0:spPr>
          <ns1:xfrm>
            <ns1:off x="457200" y="5852160"/>
            <ns1:ext cx="11274552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BFDBFE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Q&amp;A　·　模板与演示环境：设计开发组　·　存量优化专题：开发调试中，敬请期待</ns1:t>
            </ns1:r>
            <ns1:endParaRPr lang="en-US" sz="1300" dirty="0"/>
          </ns1:p>
        </ns0:txBody>
      </ns0:sp>
      <ns0:sp>
        <ns0:nvSpPr>
          <ns0:cNvPr id="30" name="Text 28"/>
          <ns0:cNvSpPr/>
          <ns0:nvPr/>
        </ns0:nvSpPr>
        <ns0:spPr>
          <ns1:xfrm>
            <ns1:off x="457200" y="6510528"/>
            <ns1:ext cx="27432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9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设计开发智能体宣讲</ns1:t>
            </ns1:r>
            <ns1:endParaRPr lang="en-US" sz="950" dirty="0"/>
          </ns1:p>
        </ns0:txBody>
      </ns0:sp>
      <ns0:sp>
        <ns0:nvSpPr>
          <ns0:cNvPr id="31" name="Text 29"/>
          <ns0:cNvSpPr/>
          <ns0:nvPr/>
        </ns0:nvSpPr>
        <ns0:spPr>
          <ns1:xfrm>
            <ns1:off x="10360152" y="6510528"/>
            <ns1:ext cx="13716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en-US" sz="950" dirty="0">
                <ns1:solidFill>
                  <ns1:srgbClr val="475569"/>
                </ns1:solidFill>
                <ns1:latin typeface="Microsoft YaHei" pitchFamily="34" charset="0"/>
                <ns1:ea typeface="Microsoft YaHei" pitchFamily="34" charset="-122"/>
                <ns1:cs typeface="Microsoft YaHei" pitchFamily="34" charset="-120"/>
              </ns1:rPr>
              <ns1:t>10 / 10</ns1:t>
            </ns1:r>
            <ns1:endParaRPr lang="en-US" sz="950" dirty="0"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设计开发智能体 · 用户宣讲</dc:title>
  <dc:subject>PptxGenJS Presentation</dc:subject>
  <dc:creator>设计开发组</dc:creator>
  <cp:lastModifiedBy>设计开发组</cp:lastModifiedBy>
  <cp:revision>1</cp:revision>
  <dcterms:created xsi:type="dcterms:W3CDTF">2026-09-07T10:17:40Z</dcterms:created>
  <dcterms:modified xsi:type="dcterms:W3CDTF">2026-09-07T10:17:40Z</dcterms:modified>
</cp:coreProperties>
</file>